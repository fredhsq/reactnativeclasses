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57" r:id="rId3"/>
    <p:sldId id="258" r:id="rId4"/>
    <p:sldId id="273" r:id="rId5"/>
    <p:sldId id="274" r:id="rId6"/>
    <p:sldId id="259" r:id="rId7"/>
    <p:sldId id="275" r:id="rId8"/>
    <p:sldId id="276" r:id="rId9"/>
    <p:sldId id="290" r:id="rId10"/>
    <p:sldId id="260" r:id="rId11"/>
    <p:sldId id="261" r:id="rId12"/>
    <p:sldId id="287" r:id="rId13"/>
    <p:sldId id="262" r:id="rId14"/>
    <p:sldId id="277" r:id="rId15"/>
    <p:sldId id="288" r:id="rId16"/>
    <p:sldId id="279" r:id="rId17"/>
    <p:sldId id="278" r:id="rId18"/>
    <p:sldId id="265" r:id="rId19"/>
    <p:sldId id="266" r:id="rId20"/>
    <p:sldId id="271" r:id="rId21"/>
    <p:sldId id="282" r:id="rId22"/>
    <p:sldId id="283" r:id="rId23"/>
    <p:sldId id="272" r:id="rId24"/>
    <p:sldId id="291" r:id="rId25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34" roundtripDataSignature="AMtx7mjFsmb5BTXCHYbaQxFx3sctUX4EH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1" d="100"/>
          <a:sy n="91" d="100"/>
        </p:scale>
        <p:origin x="7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804409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74622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080315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385971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717533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982544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04302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865224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7336602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8762355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4773574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07975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614919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conteúdo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ção" type="twoTxTwoObj">
  <p:cSld name="TWO_OBJECTS_WITH_TEX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" name="Google Shape;27;p2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2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beçalho da Seção" type="secHead">
  <p:cSld name="SECTION_HEADER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22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22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5" name="Google Shape;35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uas Partes de Conteúdo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2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1" name="Google Shape;41;p23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mente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m br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údo com Legenda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6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6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m com Legenda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7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7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7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8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e texto verticais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9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9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actnative.dev/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react-native.rocketseat.dev/android/windows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4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reactnavigation.org/docs/native-stack-navigator" TargetMode="External"/><Relationship Id="rId5" Type="http://schemas.openxmlformats.org/officeDocument/2006/relationships/hyperlink" Target="https://reactnavigation.org/docs/drawer-based-navigation/" TargetMode="External"/><Relationship Id="rId4" Type="http://schemas.openxmlformats.org/officeDocument/2006/relationships/hyperlink" Target="https://reactnavigation.org/docs/tab-based-navigation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act-native-async-storage.github.io/async-storage/docs/usage" TargetMode="Externa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reactnative.dev/docs/platform" TargetMode="Externa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Imagem para fundo de slide, faixa azul preenchendo a parte de baixo do slide, formato de onda com logo do Serratec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671"/>
            <a:ext cx="12275387" cy="686267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776377" y="475381"/>
            <a:ext cx="7907548" cy="2344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 dirty="0"/>
              <a:t>React Native</a:t>
            </a:r>
            <a:endParaRPr dirty="0"/>
          </a:p>
        </p:txBody>
      </p:sp>
      <p:sp>
        <p:nvSpPr>
          <p:cNvPr id="86" name="Google Shape;86;p1"/>
          <p:cNvSpPr txBox="1">
            <a:spLocks noGrp="1"/>
          </p:cNvSpPr>
          <p:nvPr>
            <p:ph type="subTitle" idx="1"/>
          </p:nvPr>
        </p:nvSpPr>
        <p:spPr>
          <a:xfrm>
            <a:off x="776377" y="3098830"/>
            <a:ext cx="7907548" cy="11813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Professor: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4633823" y="365125"/>
            <a:ext cx="7093788" cy="133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O que é React Native?</a:t>
            </a:r>
            <a:endParaRPr dirty="0"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4633823" y="1825625"/>
            <a:ext cx="7093788" cy="1882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É um framework em Javascript para criação de aplicativos.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Renderiza de forma nativa aplicativos para sistemas operacionais mobile diferentes.</a:t>
            </a:r>
            <a:endParaRPr dirty="0"/>
          </a:p>
        </p:txBody>
      </p:sp>
      <p:pic>
        <p:nvPicPr>
          <p:cNvPr id="93" name="Google Shape;93;p2" descr="Imagem para fundo de slide, faixa azul preenchendo a parte lateral esquerda do slide, formato de onda com logo do Serratec."/>
          <p:cNvPicPr preferRelativeResize="0"/>
          <p:nvPr/>
        </p:nvPicPr>
        <p:blipFill rotWithShape="1">
          <a:blip r:embed="rId3">
            <a:alphaModFix/>
          </a:blip>
          <a:srcRect l="-32" t="-65" r="64934" b="65"/>
          <a:stretch/>
        </p:blipFill>
        <p:spPr>
          <a:xfrm>
            <a:off x="0" y="1253"/>
            <a:ext cx="4275937" cy="685674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2"/>
          <p:cNvSpPr txBox="1"/>
          <p:nvPr/>
        </p:nvSpPr>
        <p:spPr>
          <a:xfrm>
            <a:off x="4868315" y="4252700"/>
            <a:ext cx="6040899" cy="151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*Renderizar de forma nativa significa que ele traduz o código de Javascript para o código que é utilizado no sistema operacional. </a:t>
            </a:r>
            <a:endParaRPr sz="900" dirty="0"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Exemplo: Android é codado em Kotlin(JAVA) e IOS é codado em Swift(Linguagem própria Apple). Codando em React Native você coda um código só para os diversos ambientes de mobiles.</a:t>
            </a:r>
            <a:br>
              <a:rPr lang="pt-BR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4841505" y="6123543"/>
            <a:ext cx="609452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0" i="0" u="sng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https://reactnative.dev/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4633823" y="0"/>
            <a:ext cx="7093788" cy="133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Vantagens React Native</a:t>
            </a:r>
            <a:endParaRPr dirty="0"/>
          </a:p>
        </p:txBody>
      </p:sp>
      <p:sp>
        <p:nvSpPr>
          <p:cNvPr id="101" name="Google Shape;101;p3"/>
          <p:cNvSpPr txBox="1">
            <a:spLocks noGrp="1"/>
          </p:cNvSpPr>
          <p:nvPr>
            <p:ph type="body" idx="1"/>
          </p:nvPr>
        </p:nvSpPr>
        <p:spPr>
          <a:xfrm>
            <a:off x="4633823" y="1231736"/>
            <a:ext cx="7093788" cy="133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Linguagem para todos os sistemas operacionais, usando a mesma base de código. Escrevemos de uma só maneira, e cada plataforma trata de forma independe.</a:t>
            </a:r>
            <a:endParaRPr dirty="0"/>
          </a:p>
        </p:txBody>
      </p:sp>
      <p:pic>
        <p:nvPicPr>
          <p:cNvPr id="102" name="Google Shape;102;p3" descr="Imagem para fundo de slide, faixa azul preenchendo a parte lateral esquerda do slide, formato de onda com logo do Serratec."/>
          <p:cNvPicPr preferRelativeResize="0"/>
          <p:nvPr/>
        </p:nvPicPr>
        <p:blipFill rotWithShape="1">
          <a:blip r:embed="rId3">
            <a:alphaModFix/>
          </a:blip>
          <a:srcRect l="-32" t="-65" r="64934" b="65"/>
          <a:stretch/>
        </p:blipFill>
        <p:spPr>
          <a:xfrm>
            <a:off x="0" y="1253"/>
            <a:ext cx="4275937" cy="6856747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Google Shape;101;p3">
            <a:extLst>
              <a:ext uri="{FF2B5EF4-FFF2-40B4-BE49-F238E27FC236}">
                <a16:creationId xmlns:a16="http://schemas.microsoft.com/office/drawing/2014/main" id="{D6042F3E-0441-F3C6-DBF6-8B0ED3D2280D}"/>
              </a:ext>
            </a:extLst>
          </p:cNvPr>
          <p:cNvSpPr txBox="1">
            <a:spLocks/>
          </p:cNvSpPr>
          <p:nvPr/>
        </p:nvSpPr>
        <p:spPr>
          <a:xfrm>
            <a:off x="4633823" y="6056721"/>
            <a:ext cx="7558177" cy="801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28600" indent="-228600">
              <a:spcBef>
                <a:spcPts val="0"/>
              </a:spcBef>
              <a:buSzPts val="2800"/>
            </a:pPr>
            <a:r>
              <a:rPr lang="pt-BR" sz="2000" u="sng" dirty="0"/>
              <a:t>Documentação:</a:t>
            </a:r>
            <a:br>
              <a:rPr lang="pt-BR" sz="2000" u="sng" dirty="0"/>
            </a:br>
            <a:r>
              <a:rPr lang="pt-BR" sz="2000" u="sng" dirty="0"/>
              <a:t>https://reactnative.dev/docs/intro-react-native-components</a:t>
            </a:r>
          </a:p>
        </p:txBody>
      </p:sp>
      <p:sp>
        <p:nvSpPr>
          <p:cNvPr id="2" name="Google Shape;101;p3">
            <a:extLst>
              <a:ext uri="{FF2B5EF4-FFF2-40B4-BE49-F238E27FC236}">
                <a16:creationId xmlns:a16="http://schemas.microsoft.com/office/drawing/2014/main" id="{4A290B1C-9A0A-901F-CAF0-93B74FA17CE0}"/>
              </a:ext>
            </a:extLst>
          </p:cNvPr>
          <p:cNvSpPr txBox="1">
            <a:spLocks/>
          </p:cNvSpPr>
          <p:nvPr/>
        </p:nvSpPr>
        <p:spPr>
          <a:xfrm>
            <a:off x="4633823" y="2571676"/>
            <a:ext cx="7093788" cy="29232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457200" lvl="1" indent="0">
              <a:spcBef>
                <a:spcPts val="0"/>
              </a:spcBef>
              <a:buSzPts val="2800"/>
              <a:buNone/>
            </a:pPr>
            <a:r>
              <a:rPr lang="pt-BR" dirty="0"/>
              <a:t>Inserimos um &lt;Text&gt; para texto</a:t>
            </a:r>
            <a:br>
              <a:rPr lang="pt-BR" dirty="0"/>
            </a:br>
            <a:r>
              <a:rPr lang="pt-BR" dirty="0"/>
              <a:t>Inserimos um &lt;Image&gt; para imagens</a:t>
            </a:r>
          </a:p>
          <a:p>
            <a:pPr marL="0" indent="0">
              <a:spcBef>
                <a:spcPts val="0"/>
              </a:spcBef>
              <a:buSzPts val="2800"/>
              <a:buNone/>
            </a:pPr>
            <a:endParaRPr lang="pt-BR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r>
              <a:rPr lang="pt-BR" dirty="0"/>
              <a:t>Dentro de cada plataforma por baixo dos panos, é convertido cada um para a sua forma:</a:t>
            </a:r>
          </a:p>
          <a:p>
            <a:pPr lvl="1" indent="-457200">
              <a:spcBef>
                <a:spcPts val="0"/>
              </a:spcBef>
              <a:buSzPts val="2800"/>
              <a:buFontTx/>
              <a:buChar char="-"/>
            </a:pPr>
            <a:endParaRPr lang="pt-BR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r>
              <a:rPr lang="pt-BR" dirty="0"/>
              <a:t>1. IOS</a:t>
            </a:r>
            <a:br>
              <a:rPr lang="pt-BR" dirty="0"/>
            </a:br>
            <a:r>
              <a:rPr lang="pt-BR" dirty="0"/>
              <a:t>  - UIImageView</a:t>
            </a:r>
            <a:br>
              <a:rPr lang="pt-BR" dirty="0"/>
            </a:br>
            <a:r>
              <a:rPr lang="pt-BR" dirty="0"/>
              <a:t>  - UITextView</a:t>
            </a:r>
          </a:p>
          <a:p>
            <a:pPr marL="1143000" lvl="2" indent="-228600">
              <a:spcBef>
                <a:spcPts val="0"/>
              </a:spcBef>
              <a:buSzPts val="2800"/>
            </a:pPr>
            <a:endParaRPr lang="pt-BR" dirty="0"/>
          </a:p>
          <a:p>
            <a:pPr marL="457200" lvl="1" indent="0">
              <a:spcBef>
                <a:spcPts val="0"/>
              </a:spcBef>
              <a:buSzPts val="2800"/>
              <a:buNone/>
            </a:pPr>
            <a:r>
              <a:rPr lang="pt-BR" dirty="0"/>
              <a:t>2. Android</a:t>
            </a:r>
            <a:br>
              <a:rPr lang="pt-BR" dirty="0"/>
            </a:br>
            <a:r>
              <a:rPr lang="pt-BR" dirty="0"/>
              <a:t>  - ImageView</a:t>
            </a:r>
            <a:br>
              <a:rPr lang="pt-BR" dirty="0"/>
            </a:br>
            <a:r>
              <a:rPr lang="pt-BR" dirty="0"/>
              <a:t>  - TextView</a:t>
            </a:r>
          </a:p>
          <a:p>
            <a:pPr marL="685800" lvl="1" indent="-228600">
              <a:spcBef>
                <a:spcPts val="0"/>
              </a:spcBef>
              <a:buSzPts val="2800"/>
            </a:pPr>
            <a:endParaRPr lang="pt-BR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4633823" y="0"/>
            <a:ext cx="7093788" cy="133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Vantagens React Native</a:t>
            </a:r>
            <a:endParaRPr dirty="0"/>
          </a:p>
        </p:txBody>
      </p:sp>
      <p:sp>
        <p:nvSpPr>
          <p:cNvPr id="101" name="Google Shape;101;p3"/>
          <p:cNvSpPr txBox="1">
            <a:spLocks noGrp="1"/>
          </p:cNvSpPr>
          <p:nvPr>
            <p:ph type="body" idx="1"/>
          </p:nvPr>
        </p:nvSpPr>
        <p:spPr>
          <a:xfrm>
            <a:off x="4633823" y="1231735"/>
            <a:ext cx="7093788" cy="54801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Grande comunidade criando bibliotecas e componentes para utilização de todos, dando suporte e  contribuindo.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A curva de aprendizado para quem vem do ReactJS é menor, pois utiliza da mesma lógica de HTML, CSS e Javascript, com algumas alterações no CSS.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Atualização instantânea de modificações no código.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pt-BR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Grandes empresas utilizam dessa ferramenta. E quem usa? </a:t>
            </a:r>
            <a:r>
              <a:rPr lang="pt-BR" u="sng" dirty="0"/>
              <a:t>https://reactnative.dev/showcase</a:t>
            </a:r>
            <a:endParaRPr u="sng" dirty="0"/>
          </a:p>
        </p:txBody>
      </p:sp>
      <p:pic>
        <p:nvPicPr>
          <p:cNvPr id="102" name="Google Shape;102;p3" descr="Imagem para fundo de slide, faixa azul preenchendo a parte lateral esquerda do slide, formato de onda com logo do Serratec."/>
          <p:cNvPicPr preferRelativeResize="0"/>
          <p:nvPr/>
        </p:nvPicPr>
        <p:blipFill rotWithShape="1">
          <a:blip r:embed="rId3">
            <a:alphaModFix/>
          </a:blip>
          <a:srcRect l="-32" t="-65" r="64934" b="65"/>
          <a:stretch/>
        </p:blipFill>
        <p:spPr>
          <a:xfrm>
            <a:off x="0" y="1253"/>
            <a:ext cx="4275937" cy="68567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4669574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>
            <a:spLocks noGrp="1"/>
          </p:cNvSpPr>
          <p:nvPr>
            <p:ph type="title"/>
          </p:nvPr>
        </p:nvSpPr>
        <p:spPr>
          <a:xfrm>
            <a:off x="4633823" y="0"/>
            <a:ext cx="7093788" cy="133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Vantagens React Native</a:t>
            </a:r>
            <a:endParaRPr dirty="0"/>
          </a:p>
        </p:txBody>
      </p:sp>
      <p:sp>
        <p:nvSpPr>
          <p:cNvPr id="101" name="Google Shape;101;p3"/>
          <p:cNvSpPr txBox="1">
            <a:spLocks noGrp="1"/>
          </p:cNvSpPr>
          <p:nvPr>
            <p:ph type="body" idx="1"/>
          </p:nvPr>
        </p:nvSpPr>
        <p:spPr>
          <a:xfrm>
            <a:off x="4633823" y="1231737"/>
            <a:ext cx="7093788" cy="6630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u="sng" dirty="0"/>
              <a:t>Alguns exemplos de plataforma:</a:t>
            </a:r>
          </a:p>
        </p:txBody>
      </p:sp>
      <p:pic>
        <p:nvPicPr>
          <p:cNvPr id="102" name="Google Shape;102;p3" descr="Imagem para fundo de slide, faixa azul preenchendo a parte lateral esquerda do slide, formato de onda com logo do Serratec."/>
          <p:cNvPicPr preferRelativeResize="0"/>
          <p:nvPr/>
        </p:nvPicPr>
        <p:blipFill rotWithShape="1">
          <a:blip r:embed="rId3">
            <a:alphaModFix/>
          </a:blip>
          <a:srcRect l="-32" t="-65" r="64934" b="65"/>
          <a:stretch/>
        </p:blipFill>
        <p:spPr>
          <a:xfrm>
            <a:off x="0" y="1253"/>
            <a:ext cx="4275937" cy="68567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0DFD5535-A8FA-E0B7-973F-CDC6B8F1FE8D}"/>
              </a:ext>
            </a:extLst>
          </p:cNvPr>
          <p:cNvSpPr txBox="1"/>
          <p:nvPr/>
        </p:nvSpPr>
        <p:spPr>
          <a:xfrm>
            <a:off x="4633822" y="2337847"/>
            <a:ext cx="6527513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pt-B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Exemplos básicos:</a:t>
            </a:r>
          </a:p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Windows e Mac através do Native: </a:t>
            </a:r>
          </a:p>
          <a:p>
            <a:r>
              <a:rPr lang="pt-BR" sz="18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https://microsoft.github.io/react-native-windows/</a:t>
            </a:r>
          </a:p>
          <a:p>
            <a:endParaRPr lang="pt-B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Realidade virtual: </a:t>
            </a:r>
          </a:p>
          <a:p>
            <a:r>
              <a:rPr lang="pt-BR" sz="18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https://github.com/viromedia/viro</a:t>
            </a:r>
          </a:p>
          <a:p>
            <a:endParaRPr lang="pt-B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Smart watch: </a:t>
            </a:r>
          </a:p>
          <a:p>
            <a:r>
              <a:rPr lang="pt-BR" sz="18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https://github.com/conorbuck/react-native-watch</a:t>
            </a:r>
          </a:p>
          <a:p>
            <a:endParaRPr lang="pt-BR" sz="1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8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 Realidade aumentada: </a:t>
            </a:r>
          </a:p>
          <a:p>
            <a:r>
              <a:rPr lang="pt-BR" sz="18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https://github.com/react-native-ar/react-native-arkit</a:t>
            </a:r>
          </a:p>
        </p:txBody>
      </p:sp>
    </p:spTree>
    <p:extLst>
      <p:ext uri="{BB962C8B-B14F-4D97-AF65-F5344CB8AC3E}">
        <p14:creationId xmlns:p14="http://schemas.microsoft.com/office/powerpoint/2010/main" val="10052748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881333" y="1831615"/>
            <a:ext cx="3571335" cy="306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O que é necessário</a:t>
            </a:r>
            <a:endParaRPr dirty="0"/>
          </a:p>
        </p:txBody>
      </p: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5007634" y="833588"/>
            <a:ext cx="6719977" cy="147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Instalação do Node recomendado a versão (LTS)</a:t>
            </a:r>
            <a:endParaRPr dirty="0"/>
          </a:p>
        </p:txBody>
      </p:sp>
      <p:pic>
        <p:nvPicPr>
          <p:cNvPr id="109" name="Google Shape;109;p4" descr="Logo Serratec"/>
          <p:cNvPicPr preferRelativeResize="0"/>
          <p:nvPr/>
        </p:nvPicPr>
        <p:blipFill rotWithShape="1">
          <a:blip r:embed="rId3">
            <a:alphaModFix/>
          </a:blip>
          <a:srcRect l="5903" t="9853" r="73623" b="82599"/>
          <a:stretch/>
        </p:blipFill>
        <p:spPr>
          <a:xfrm>
            <a:off x="881333" y="833588"/>
            <a:ext cx="2513301" cy="51794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/>
        </p:nvSpPr>
        <p:spPr>
          <a:xfrm>
            <a:off x="5007633" y="2308194"/>
            <a:ext cx="6200837" cy="147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3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Versão CLI</a:t>
            </a:r>
            <a:endParaRPr sz="1500"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Instalação do Java SE Development Kit (JDK) 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Android Studio e dependências.</a:t>
            </a:r>
            <a:endParaRPr dirty="0"/>
          </a:p>
          <a:p>
            <a:pPr marL="228600" marR="0" lvl="0" indent="-10414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5082237" y="3913854"/>
            <a:ext cx="6889804" cy="14746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20000"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pt-BR" sz="33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Versão Expo</a:t>
            </a:r>
            <a:endParaRPr sz="1600" dirty="0"/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</a:t>
            </a:r>
            <a:endParaRPr sz="2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pt-BR" sz="2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 GO (app a ser instalado no dispositivo Android e/ou iOS)</a:t>
            </a:r>
            <a:endParaRPr dirty="0"/>
          </a:p>
        </p:txBody>
      </p:sp>
      <p:pic>
        <p:nvPicPr>
          <p:cNvPr id="2" name="Google Shape;124;p5" descr="Forma, Retângulo Azul&#10;&#10;Descrição gerada automaticamente">
            <a:extLst>
              <a:ext uri="{FF2B5EF4-FFF2-40B4-BE49-F238E27FC236}">
                <a16:creationId xmlns:a16="http://schemas.microsoft.com/office/drawing/2014/main" id="{AD66DC9B-A8B2-2E29-3B46-1A2B65F8C5CB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71" y="5674936"/>
            <a:ext cx="12192000" cy="11903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25;p5" descr="Logo simplificado do serratec">
            <a:extLst>
              <a:ext uri="{FF2B5EF4-FFF2-40B4-BE49-F238E27FC236}">
                <a16:creationId xmlns:a16="http://schemas.microsoft.com/office/drawing/2014/main" id="{27FA61B9-4A63-D32B-7060-F50E4769540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-1051" r="82738" b="-13793"/>
          <a:stretch/>
        </p:blipFill>
        <p:spPr>
          <a:xfrm>
            <a:off x="11016014" y="5892438"/>
            <a:ext cx="711597" cy="81768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"/>
          <p:cNvSpPr txBox="1">
            <a:spLocks noGrp="1"/>
          </p:cNvSpPr>
          <p:nvPr>
            <p:ph type="title"/>
          </p:nvPr>
        </p:nvSpPr>
        <p:spPr>
          <a:xfrm>
            <a:off x="881333" y="1831615"/>
            <a:ext cx="3571335" cy="306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O que é necessário saber</a:t>
            </a:r>
            <a:endParaRPr dirty="0"/>
          </a:p>
        </p:txBody>
      </p:sp>
      <p:sp>
        <p:nvSpPr>
          <p:cNvPr id="108" name="Google Shape;108;p4"/>
          <p:cNvSpPr txBox="1">
            <a:spLocks noGrp="1"/>
          </p:cNvSpPr>
          <p:nvPr>
            <p:ph type="body" idx="1"/>
          </p:nvPr>
        </p:nvSpPr>
        <p:spPr>
          <a:xfrm>
            <a:off x="4922793" y="2011899"/>
            <a:ext cx="6719977" cy="306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Entender os fundamentos da web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pt-BR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Uso do HTML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pt-BR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CSS e suas regras de estilizações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pt-BR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Flex-box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endParaRPr lang="pt-BR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pt-BR" dirty="0"/>
              <a:t>Javascript</a:t>
            </a:r>
            <a:endParaRPr dirty="0"/>
          </a:p>
        </p:txBody>
      </p:sp>
      <p:pic>
        <p:nvPicPr>
          <p:cNvPr id="109" name="Google Shape;109;p4" descr="Logo Serratec"/>
          <p:cNvPicPr preferRelativeResize="0"/>
          <p:nvPr/>
        </p:nvPicPr>
        <p:blipFill rotWithShape="1">
          <a:blip r:embed="rId3">
            <a:alphaModFix/>
          </a:blip>
          <a:srcRect l="5903" t="9853" r="73623" b="82599"/>
          <a:stretch/>
        </p:blipFill>
        <p:spPr>
          <a:xfrm>
            <a:off x="876368" y="572758"/>
            <a:ext cx="2513301" cy="51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24;p5" descr="Forma, Retângulo Azul&#10;&#10;Descrição gerada automaticamente">
            <a:extLst>
              <a:ext uri="{FF2B5EF4-FFF2-40B4-BE49-F238E27FC236}">
                <a16:creationId xmlns:a16="http://schemas.microsoft.com/office/drawing/2014/main" id="{2729B8BC-0A2E-93D4-D5F8-9772DAD3574D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-771" y="5806912"/>
            <a:ext cx="12192000" cy="105838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25;p5" descr="Logo simplificado do serratec">
            <a:extLst>
              <a:ext uri="{FF2B5EF4-FFF2-40B4-BE49-F238E27FC236}">
                <a16:creationId xmlns:a16="http://schemas.microsoft.com/office/drawing/2014/main" id="{53003E51-7B22-1C3E-532F-15E529338801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t="-1051" r="82738" b="-13793"/>
          <a:stretch/>
        </p:blipFill>
        <p:spPr>
          <a:xfrm>
            <a:off x="10972801" y="5987196"/>
            <a:ext cx="669970" cy="77005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1295003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839788" y="234025"/>
            <a:ext cx="10515600" cy="130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Fluxos de trabalho</a:t>
            </a:r>
            <a:endParaRPr dirty="0"/>
          </a:p>
        </p:txBody>
      </p:sp>
      <p:sp>
        <p:nvSpPr>
          <p:cNvPr id="118" name="Google Shape;118;p5"/>
          <p:cNvSpPr txBox="1">
            <a:spLocks noGrp="1"/>
          </p:cNvSpPr>
          <p:nvPr>
            <p:ph type="body" idx="1"/>
          </p:nvPr>
        </p:nvSpPr>
        <p:spPr>
          <a:xfrm>
            <a:off x="937442" y="98583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Versão Expo </a:t>
            </a:r>
            <a:r>
              <a:rPr lang="pt-BR" sz="2400" dirty="0"/>
              <a:t>Managed workflow. </a:t>
            </a:r>
            <a:endParaRPr dirty="0"/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2"/>
          </p:nvPr>
        </p:nvSpPr>
        <p:spPr>
          <a:xfrm>
            <a:off x="937442" y="1959244"/>
            <a:ext cx="10662114" cy="259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2000" dirty="0"/>
              <a:t>Um fluxo gerenciado é a forma que o Expo gerencia as dependências instaladas no projeto, ele realiza toda parte de configuração do aplicativo, sem a necessidade de modificar pastas nativas.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pt-BR" sz="2000" dirty="0"/>
          </a:p>
          <a:p>
            <a:pPr marL="228600" indent="-228600">
              <a:spcBef>
                <a:spcPts val="0"/>
              </a:spcBef>
              <a:buSzPct val="100000"/>
            </a:pPr>
            <a:r>
              <a:rPr lang="pt-BR" sz="2000" b="0" i="0" dirty="0"/>
              <a:t>Ele é projetado para oferecer uma experiência de desenvolvimento sem a necessidade de configurar e gerenciar manualmente o ambiente nativo (Xcode para iOS ou Android Studio para Android).</a:t>
            </a:r>
          </a:p>
          <a:p>
            <a:pPr marL="0" indent="0">
              <a:spcBef>
                <a:spcPts val="0"/>
              </a:spcBef>
              <a:buSzPct val="100000"/>
              <a:buNone/>
            </a:pPr>
            <a:endParaRPr lang="en-US" sz="2000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pt-BR" sz="2000" dirty="0"/>
          </a:p>
        </p:txBody>
      </p:sp>
      <p:sp>
        <p:nvSpPr>
          <p:cNvPr id="123" name="Google Shape;123;p5"/>
          <p:cNvSpPr txBox="1"/>
          <p:nvPr/>
        </p:nvSpPr>
        <p:spPr>
          <a:xfrm>
            <a:off x="937442" y="4716258"/>
            <a:ext cx="10773825" cy="646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 padrão o Expo não exibe pastas nativas pois ele realiza todas configurações, porém como não da suporte a todas as Apis, podemos expor essas pastas e realizar as configurações, executando o comando: </a:t>
            </a:r>
            <a:r>
              <a:rPr lang="pt-BR" sz="1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npx prebuild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4" name="Google Shape;124;p5" descr="Forma, Retângulo Azul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71" y="6199188"/>
            <a:ext cx="12192000" cy="666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 descr="Logo simplificado do serratec"/>
          <p:cNvPicPr preferRelativeResize="0"/>
          <p:nvPr/>
        </p:nvPicPr>
        <p:blipFill rotWithShape="1">
          <a:blip r:embed="rId4">
            <a:alphaModFix/>
          </a:blip>
          <a:srcRect t="-1051" r="82738" b="-13793"/>
          <a:stretch/>
        </p:blipFill>
        <p:spPr>
          <a:xfrm>
            <a:off x="11111220" y="6271647"/>
            <a:ext cx="488336" cy="570447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CaixaDeTexto 1">
            <a:extLst>
              <a:ext uri="{FF2B5EF4-FFF2-40B4-BE49-F238E27FC236}">
                <a16:creationId xmlns:a16="http://schemas.microsoft.com/office/drawing/2014/main" id="{2BE0FC20-9181-D879-F5C2-823DCCF83186}"/>
              </a:ext>
            </a:extLst>
          </p:cNvPr>
          <p:cNvSpPr txBox="1"/>
          <p:nvPr/>
        </p:nvSpPr>
        <p:spPr>
          <a:xfrm>
            <a:off x="937441" y="5524745"/>
            <a:ext cx="41907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800" u="sng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https://docs.expo.dev/workflow/prebuild/</a:t>
            </a:r>
          </a:p>
        </p:txBody>
      </p:sp>
    </p:spTree>
    <p:extLst>
      <p:ext uri="{BB962C8B-B14F-4D97-AF65-F5344CB8AC3E}">
        <p14:creationId xmlns:p14="http://schemas.microsoft.com/office/powerpoint/2010/main" val="40215622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839788" y="234025"/>
            <a:ext cx="10515600" cy="130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Fluxos de trabalho</a:t>
            </a:r>
            <a:endParaRPr dirty="0"/>
          </a:p>
        </p:txBody>
      </p:sp>
      <p:sp>
        <p:nvSpPr>
          <p:cNvPr id="118" name="Google Shape;118;p5"/>
          <p:cNvSpPr txBox="1">
            <a:spLocks noGrp="1"/>
          </p:cNvSpPr>
          <p:nvPr>
            <p:ph type="body" idx="1"/>
          </p:nvPr>
        </p:nvSpPr>
        <p:spPr>
          <a:xfrm>
            <a:off x="937442" y="98583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Versão Cli Bare workflow</a:t>
            </a:r>
            <a:r>
              <a:rPr lang="pt-BR" sz="2400" dirty="0"/>
              <a:t>. </a:t>
            </a:r>
            <a:endParaRPr dirty="0"/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2"/>
          </p:nvPr>
        </p:nvSpPr>
        <p:spPr>
          <a:xfrm>
            <a:off x="937442" y="1959244"/>
            <a:ext cx="10662114" cy="25948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2000" dirty="0"/>
              <a:t>Nesse formato nós gerenciamos todas as configurações das dependências instaladas, então teremos acesso as pastas nativas.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pt-BR" sz="2000" dirty="0"/>
          </a:p>
          <a:p>
            <a:pPr marL="228600" indent="-228600">
              <a:spcBef>
                <a:spcPts val="0"/>
              </a:spcBef>
              <a:buSzPct val="100000"/>
            </a:pPr>
            <a:r>
              <a:rPr lang="pt-BR" sz="2000" dirty="0"/>
              <a:t>Diferente do </a:t>
            </a:r>
            <a:r>
              <a:rPr lang="pt-BR" sz="2000" b="0" i="0" dirty="0"/>
              <a:t>Managed Workflow, o Bare Workflow oferece maior controle e personalização sobre o código nativo do iOS e Android. </a:t>
            </a:r>
          </a:p>
          <a:p>
            <a:pPr marL="228600" indent="-228600">
              <a:spcBef>
                <a:spcPts val="0"/>
              </a:spcBef>
              <a:buSzPct val="100000"/>
            </a:pPr>
            <a:endParaRPr lang="pt-BR" sz="2000" dirty="0"/>
          </a:p>
          <a:p>
            <a:pPr marL="228600" indent="-228600">
              <a:spcBef>
                <a:spcPts val="0"/>
              </a:spcBef>
              <a:buSzPct val="100000"/>
            </a:pPr>
            <a:r>
              <a:rPr lang="pt-BR" sz="2000" b="0" i="0" dirty="0"/>
              <a:t>É uma escolha adequada para projetos que exigem o uso de módulos nativos personalizados ou quando você precisa de um nível mais profundo de integração com as plataformas nativas</a:t>
            </a:r>
            <a:endParaRPr lang="en-US" sz="2000" dirty="0"/>
          </a:p>
          <a:p>
            <a:pPr marL="228600" indent="-228600">
              <a:spcBef>
                <a:spcPts val="0"/>
              </a:spcBef>
              <a:buSzPct val="100000"/>
            </a:pPr>
            <a:endParaRPr lang="en-US" sz="2000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en-US" sz="2000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pt-BR" sz="2000" dirty="0"/>
          </a:p>
        </p:txBody>
      </p:sp>
      <p:pic>
        <p:nvPicPr>
          <p:cNvPr id="124" name="Google Shape;124;p5" descr="Forma, Retângulo Azul&#10;&#10;Descrição gerada automa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771" y="6199188"/>
            <a:ext cx="12192000" cy="6661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5" descr="Logo simplificado do serratec"/>
          <p:cNvPicPr preferRelativeResize="0"/>
          <p:nvPr/>
        </p:nvPicPr>
        <p:blipFill rotWithShape="1">
          <a:blip r:embed="rId4">
            <a:alphaModFix/>
          </a:blip>
          <a:srcRect t="-1051" r="82738" b="-13793"/>
          <a:stretch/>
        </p:blipFill>
        <p:spPr>
          <a:xfrm>
            <a:off x="11111220" y="6271647"/>
            <a:ext cx="488336" cy="570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05088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"/>
          <p:cNvSpPr txBox="1">
            <a:spLocks noGrp="1"/>
          </p:cNvSpPr>
          <p:nvPr>
            <p:ph type="title"/>
          </p:nvPr>
        </p:nvSpPr>
        <p:spPr>
          <a:xfrm>
            <a:off x="0" y="-2911"/>
            <a:ext cx="12192000" cy="13068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Comparando versões</a:t>
            </a:r>
            <a:endParaRPr dirty="0"/>
          </a:p>
        </p:txBody>
      </p:sp>
      <p:sp>
        <p:nvSpPr>
          <p:cNvPr id="118" name="Google Shape;118;p5"/>
          <p:cNvSpPr txBox="1">
            <a:spLocks noGrp="1"/>
          </p:cNvSpPr>
          <p:nvPr>
            <p:ph type="body" idx="1"/>
          </p:nvPr>
        </p:nvSpPr>
        <p:spPr>
          <a:xfrm>
            <a:off x="937442" y="985831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Versão Expo</a:t>
            </a:r>
            <a:endParaRPr dirty="0"/>
          </a:p>
        </p:txBody>
      </p:sp>
      <p:sp>
        <p:nvSpPr>
          <p:cNvPr id="119" name="Google Shape;119;p5"/>
          <p:cNvSpPr txBox="1">
            <a:spLocks noGrp="1"/>
          </p:cNvSpPr>
          <p:nvPr>
            <p:ph type="body" idx="2"/>
          </p:nvPr>
        </p:nvSpPr>
        <p:spPr>
          <a:xfrm>
            <a:off x="937442" y="1959244"/>
            <a:ext cx="5157787" cy="23299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Mais fácil instalação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Funcionalidade mais definidas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Não exige muito do computador (não precisa do AndroidStudio)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Usa um aplicativo no próprio celular</a:t>
            </a:r>
            <a:br>
              <a:rPr lang="pt-BR" dirty="0"/>
            </a:br>
            <a:endParaRPr lang="pt-BR" dirty="0"/>
          </a:p>
        </p:txBody>
      </p:sp>
      <p:sp>
        <p:nvSpPr>
          <p:cNvPr id="120" name="Google Shape;120;p5"/>
          <p:cNvSpPr txBox="1">
            <a:spLocks noGrp="1"/>
          </p:cNvSpPr>
          <p:nvPr>
            <p:ph type="body" idx="3"/>
          </p:nvPr>
        </p:nvSpPr>
        <p:spPr>
          <a:xfrm>
            <a:off x="6269854" y="866776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Versão Cli</a:t>
            </a:r>
            <a:endParaRPr dirty="0"/>
          </a:p>
        </p:txBody>
      </p:sp>
      <p:sp>
        <p:nvSpPr>
          <p:cNvPr id="121" name="Google Shape;121;p5"/>
          <p:cNvSpPr txBox="1">
            <a:spLocks noGrp="1"/>
          </p:cNvSpPr>
          <p:nvPr>
            <p:ph type="body" idx="4"/>
          </p:nvPr>
        </p:nvSpPr>
        <p:spPr>
          <a:xfrm>
            <a:off x="6269854" y="1842179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Funcionalidades diversas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Mais utilizado no mercado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Comunidade mais ativa e bibliotecas mais comuns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Mais difícil instalação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Exige muito do computador </a:t>
            </a:r>
            <a:br>
              <a:rPr lang="pt-BR" dirty="0"/>
            </a:br>
            <a:r>
              <a:rPr lang="pt-BR" dirty="0"/>
              <a:t>(emulador/AndroidStudio)</a:t>
            </a:r>
            <a:endParaRPr dirty="0"/>
          </a:p>
        </p:txBody>
      </p:sp>
      <p:sp>
        <p:nvSpPr>
          <p:cNvPr id="122" name="Google Shape;122;p5"/>
          <p:cNvSpPr txBox="1"/>
          <p:nvPr/>
        </p:nvSpPr>
        <p:spPr>
          <a:xfrm>
            <a:off x="6269854" y="5212636"/>
            <a:ext cx="5256212" cy="9232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https://react-native.rocketseat.dev/android/windows</a:t>
            </a:r>
            <a:endParaRPr lang="pt-BR" sz="18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pt-BR" sz="18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https://reactnative.dev/docs/environment-setup</a:t>
            </a:r>
            <a:endParaRPr sz="1800" u="sng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934266" y="5304949"/>
            <a:ext cx="5259388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https://docs.expo.dev/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5" name="Google Shape;125;p5" descr="Logo simplificado do serratec"/>
          <p:cNvPicPr preferRelativeResize="0"/>
          <p:nvPr/>
        </p:nvPicPr>
        <p:blipFill rotWithShape="1">
          <a:blip r:embed="rId4">
            <a:alphaModFix/>
          </a:blip>
          <a:srcRect t="-1051" r="82738" b="-13793"/>
          <a:stretch/>
        </p:blipFill>
        <p:spPr>
          <a:xfrm>
            <a:off x="11111220" y="6271647"/>
            <a:ext cx="488336" cy="570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Google Shape;145;p7" descr="Faixa azul em formato de onda preenchendo o fim do slide">
            <a:extLst>
              <a:ext uri="{FF2B5EF4-FFF2-40B4-BE49-F238E27FC236}">
                <a16:creationId xmlns:a16="http://schemas.microsoft.com/office/drawing/2014/main" id="{64FA39E3-B733-2D4A-AE41-9821F4A0459F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-821" t="72746" b="-838"/>
          <a:stretch/>
        </p:blipFill>
        <p:spPr>
          <a:xfrm>
            <a:off x="-86915" y="6104782"/>
            <a:ext cx="12278915" cy="823912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44;p7" descr="Logo serratec">
            <a:extLst>
              <a:ext uri="{FF2B5EF4-FFF2-40B4-BE49-F238E27FC236}">
                <a16:creationId xmlns:a16="http://schemas.microsoft.com/office/drawing/2014/main" id="{ECC310EA-D62A-3945-A9FF-F1E25F59E323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5903" t="9853" r="73623" b="82599"/>
          <a:stretch/>
        </p:blipFill>
        <p:spPr>
          <a:xfrm>
            <a:off x="348791" y="391564"/>
            <a:ext cx="2513301" cy="517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>
            <a:spLocks noGrp="1"/>
          </p:cNvSpPr>
          <p:nvPr>
            <p:ph type="title"/>
          </p:nvPr>
        </p:nvSpPr>
        <p:spPr>
          <a:xfrm>
            <a:off x="548459" y="1687398"/>
            <a:ext cx="4278065" cy="3148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Iniciando projeto Cli</a:t>
            </a:r>
            <a:endParaRPr dirty="0"/>
          </a:p>
        </p:txBody>
      </p:sp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5818043" y="1318116"/>
            <a:ext cx="5157787" cy="520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Versão Cli</a:t>
            </a:r>
            <a:endParaRPr dirty="0"/>
          </a:p>
        </p:txBody>
      </p:sp>
      <p:sp>
        <p:nvSpPr>
          <p:cNvPr id="132" name="Google Shape;132;p6"/>
          <p:cNvSpPr txBox="1">
            <a:spLocks noGrp="1"/>
          </p:cNvSpPr>
          <p:nvPr>
            <p:ph type="body" idx="2"/>
          </p:nvPr>
        </p:nvSpPr>
        <p:spPr>
          <a:xfrm>
            <a:off x="6032503" y="1814683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1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No terminal</a:t>
            </a:r>
            <a:endParaRPr lang="pt-BR" dirty="0">
              <a:solidFill>
                <a:schemeClr val="tx1"/>
              </a:solidFill>
            </a:endParaRP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dirty="0">
                <a:solidFill>
                  <a:schemeClr val="tx1"/>
                </a:solidFill>
              </a:rPr>
              <a:t>   </a:t>
            </a:r>
            <a:r>
              <a:rPr lang="en-US" dirty="0"/>
              <a:t>npx react-native@latest init nomeApp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Depois que terminar</a:t>
            </a: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dirty="0"/>
              <a:t>    Entrar na pasta com nome do app:</a:t>
            </a:r>
          </a:p>
          <a:p>
            <a:pPr marL="45720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pt-BR" dirty="0"/>
              <a:t>    cd nomeApp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Executar os comando em terminais separados:</a:t>
            </a:r>
            <a:endParaRPr dirty="0"/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npm start</a:t>
            </a:r>
          </a:p>
          <a:p>
            <a:pPr marL="68580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npm run android</a:t>
            </a:r>
          </a:p>
        </p:txBody>
      </p:sp>
      <p:pic>
        <p:nvPicPr>
          <p:cNvPr id="135" name="Google Shape;135;p6" descr="Uma imagem contendo desenh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 t="-1051" r="82738" b="-13793"/>
          <a:stretch/>
        </p:blipFill>
        <p:spPr>
          <a:xfrm>
            <a:off x="11122325" y="5995838"/>
            <a:ext cx="488336" cy="570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6" descr="Forma, Retângulo Azul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15" y="6287552"/>
            <a:ext cx="12192000" cy="570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 descr="Logo simplificado do serratec"/>
          <p:cNvPicPr preferRelativeResize="0"/>
          <p:nvPr/>
        </p:nvPicPr>
        <p:blipFill rotWithShape="1">
          <a:blip r:embed="rId3">
            <a:alphaModFix/>
          </a:blip>
          <a:srcRect t="-1051" r="82738" b="-13793"/>
          <a:stretch/>
        </p:blipFill>
        <p:spPr>
          <a:xfrm>
            <a:off x="11235322" y="6311937"/>
            <a:ext cx="488336" cy="570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44;p7" descr="Logo serratec">
            <a:extLst>
              <a:ext uri="{FF2B5EF4-FFF2-40B4-BE49-F238E27FC236}">
                <a16:creationId xmlns:a16="http://schemas.microsoft.com/office/drawing/2014/main" id="{C428A2B3-95F8-8C27-71E6-366D0E66C75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5903" t="9853" r="73623" b="82599"/>
          <a:stretch/>
        </p:blipFill>
        <p:spPr>
          <a:xfrm>
            <a:off x="548459" y="1320667"/>
            <a:ext cx="2513301" cy="517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>
            <a:spLocks noGrp="1"/>
          </p:cNvSpPr>
          <p:nvPr>
            <p:ph type="title"/>
          </p:nvPr>
        </p:nvSpPr>
        <p:spPr>
          <a:xfrm>
            <a:off x="4036376" y="452372"/>
            <a:ext cx="4985076" cy="895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Iniciando projeto Expo</a:t>
            </a:r>
            <a:endParaRPr dirty="0"/>
          </a:p>
        </p:txBody>
      </p:sp>
      <p:sp>
        <p:nvSpPr>
          <p:cNvPr id="131" name="Google Shape;131;p6"/>
          <p:cNvSpPr txBox="1">
            <a:spLocks noGrp="1"/>
          </p:cNvSpPr>
          <p:nvPr>
            <p:ph type="body" idx="1"/>
          </p:nvPr>
        </p:nvSpPr>
        <p:spPr>
          <a:xfrm>
            <a:off x="548459" y="1615701"/>
            <a:ext cx="5157787" cy="520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dirty="0"/>
              <a:t>Versão Expo</a:t>
            </a:r>
          </a:p>
        </p:txBody>
      </p:sp>
      <p:pic>
        <p:nvPicPr>
          <p:cNvPr id="135" name="Google Shape;135;p6" descr="Uma imagem contendo desenh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 t="-1051" r="82738" b="-13793"/>
          <a:stretch/>
        </p:blipFill>
        <p:spPr>
          <a:xfrm>
            <a:off x="11122325" y="5995838"/>
            <a:ext cx="488336" cy="570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6" descr="Forma, Retângulo Azul&#10;&#10;Descrição gerada automa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15" y="6287552"/>
            <a:ext cx="12192000" cy="570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6" descr="Logo simplificado do serratec"/>
          <p:cNvPicPr preferRelativeResize="0"/>
          <p:nvPr/>
        </p:nvPicPr>
        <p:blipFill rotWithShape="1">
          <a:blip r:embed="rId3">
            <a:alphaModFix/>
          </a:blip>
          <a:srcRect t="-1051" r="82738" b="-13793"/>
          <a:stretch/>
        </p:blipFill>
        <p:spPr>
          <a:xfrm>
            <a:off x="11235322" y="6311937"/>
            <a:ext cx="488336" cy="570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44;p7" descr="Logo serratec">
            <a:extLst>
              <a:ext uri="{FF2B5EF4-FFF2-40B4-BE49-F238E27FC236}">
                <a16:creationId xmlns:a16="http://schemas.microsoft.com/office/drawing/2014/main" id="{C428A2B3-95F8-8C27-71E6-366D0E66C752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 l="5903" t="9853" r="73623" b="82599"/>
          <a:stretch/>
        </p:blipFill>
        <p:spPr>
          <a:xfrm>
            <a:off x="548459" y="641171"/>
            <a:ext cx="2513301" cy="517948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Google Shape;134;p6">
            <a:extLst>
              <a:ext uri="{FF2B5EF4-FFF2-40B4-BE49-F238E27FC236}">
                <a16:creationId xmlns:a16="http://schemas.microsoft.com/office/drawing/2014/main" id="{82F24B76-F4EF-0903-4E1C-028E682A3443}"/>
              </a:ext>
            </a:extLst>
          </p:cNvPr>
          <p:cNvSpPr txBox="1">
            <a:spLocks/>
          </p:cNvSpPr>
          <p:nvPr/>
        </p:nvSpPr>
        <p:spPr>
          <a:xfrm>
            <a:off x="548459" y="2337970"/>
            <a:ext cx="5183188" cy="3399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28600" indent="-228600">
              <a:spcBef>
                <a:spcPts val="0"/>
              </a:spcBef>
              <a:buSzPct val="100000"/>
            </a:pPr>
            <a:r>
              <a:rPr lang="pt-BR" sz="1800" dirty="0"/>
              <a:t>No terminal</a:t>
            </a:r>
            <a:endParaRPr lang="pt-BR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 indent="-228600">
              <a:buSzPct val="100000"/>
            </a:pPr>
            <a:r>
              <a:rPr lang="pt-BR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npx create-expo-app nomeApp</a:t>
            </a:r>
          </a:p>
          <a:p>
            <a:pPr marL="685800" lvl="1" indent="-228600">
              <a:buSzPct val="100000"/>
            </a:pPr>
            <a:r>
              <a:rPr lang="pt-BR" sz="1600" dirty="0"/>
              <a:t>Depois que terminar</a:t>
            </a:r>
          </a:p>
          <a:p>
            <a:pPr marL="457200" lvl="1" indent="0">
              <a:buSzPct val="100000"/>
              <a:buFont typeface="Arial"/>
              <a:buNone/>
            </a:pPr>
            <a:r>
              <a:rPr lang="pt-BR" sz="1600" dirty="0"/>
              <a:t>     Entrar na pasta com nome do app:</a:t>
            </a:r>
          </a:p>
          <a:p>
            <a:pPr marL="457200" lvl="1" indent="0">
              <a:buSzPct val="100000"/>
              <a:buFont typeface="Arial"/>
              <a:buNone/>
            </a:pPr>
            <a:r>
              <a:rPr lang="pt-BR" sz="1600" dirty="0"/>
              <a:t>    cd nomeApp</a:t>
            </a:r>
          </a:p>
          <a:p>
            <a:pPr marL="457200" lvl="1" indent="0">
              <a:buSzPct val="100000"/>
              <a:buFont typeface="Arial"/>
              <a:buNone/>
            </a:pPr>
            <a:endParaRPr lang="pt-BR" sz="1600" dirty="0"/>
          </a:p>
          <a:p>
            <a:pPr marL="228600" indent="-228600">
              <a:buSzPct val="100000"/>
            </a:pPr>
            <a:r>
              <a:rPr lang="pt-BR" sz="1800" dirty="0"/>
              <a:t>Na raiz do projeto fazer a configuração do Typescript</a:t>
            </a:r>
            <a:br>
              <a:rPr lang="pt-BR" sz="1800" dirty="0"/>
            </a:br>
            <a:endParaRPr lang="pt-BR" sz="1800" dirty="0"/>
          </a:p>
          <a:p>
            <a:pPr marL="685800" lvl="1" indent="-228600">
              <a:buSzPct val="100000"/>
            </a:pPr>
            <a:r>
              <a:rPr lang="pt-BR" sz="1600" dirty="0"/>
              <a:t>criar um arquivo tsconfig.json</a:t>
            </a:r>
          </a:p>
          <a:p>
            <a:pPr marL="685800" lvl="1" indent="-228600">
              <a:buSzPct val="100000"/>
            </a:pPr>
            <a:endParaRPr lang="pt-BR" sz="1600" dirty="0"/>
          </a:p>
          <a:p>
            <a:pPr marL="228600" indent="-228600">
              <a:buSzPct val="100000"/>
            </a:pPr>
            <a:r>
              <a:rPr lang="pt-BR" sz="1800" dirty="0"/>
              <a:t>No terminal: </a:t>
            </a:r>
          </a:p>
          <a:p>
            <a:pPr marL="685800" lvl="1" indent="-228600">
              <a:buSzPct val="100000"/>
            </a:pPr>
            <a:r>
              <a:rPr lang="pt-BR" sz="1600" dirty="0"/>
              <a:t>expo start</a:t>
            </a:r>
          </a:p>
          <a:p>
            <a:pPr marL="685800" lvl="1" indent="-228600">
              <a:buSzPct val="100000"/>
            </a:pPr>
            <a:r>
              <a:rPr lang="pt-BR" sz="1600" dirty="0"/>
              <a:t>Vai perguntar se quer Typescript, aperta y e depois “enter”</a:t>
            </a:r>
          </a:p>
        </p:txBody>
      </p:sp>
      <p:sp>
        <p:nvSpPr>
          <p:cNvPr id="6" name="Google Shape;131;p6">
            <a:extLst>
              <a:ext uri="{FF2B5EF4-FFF2-40B4-BE49-F238E27FC236}">
                <a16:creationId xmlns:a16="http://schemas.microsoft.com/office/drawing/2014/main" id="{60A8E5AE-5E56-7C55-68A7-C89DBD62F394}"/>
              </a:ext>
            </a:extLst>
          </p:cNvPr>
          <p:cNvSpPr txBox="1">
            <a:spLocks/>
          </p:cNvSpPr>
          <p:nvPr/>
        </p:nvSpPr>
        <p:spPr>
          <a:xfrm>
            <a:off x="6208706" y="1615700"/>
            <a:ext cx="5157787" cy="520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spcBef>
                <a:spcPts val="0"/>
              </a:spcBef>
            </a:pPr>
            <a:r>
              <a:rPr lang="pt-BR" dirty="0"/>
              <a:t>Versão Expo</a:t>
            </a:r>
          </a:p>
        </p:txBody>
      </p:sp>
      <p:sp>
        <p:nvSpPr>
          <p:cNvPr id="8" name="Google Shape;134;p6">
            <a:extLst>
              <a:ext uri="{FF2B5EF4-FFF2-40B4-BE49-F238E27FC236}">
                <a16:creationId xmlns:a16="http://schemas.microsoft.com/office/drawing/2014/main" id="{387150D7-0FCB-A26C-6F8C-3BF3AFEA39E5}"/>
              </a:ext>
            </a:extLst>
          </p:cNvPr>
          <p:cNvSpPr txBox="1">
            <a:spLocks/>
          </p:cNvSpPr>
          <p:nvPr/>
        </p:nvSpPr>
        <p:spPr>
          <a:xfrm>
            <a:off x="6239981" y="2333636"/>
            <a:ext cx="6252863" cy="3399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28600" indent="-228600">
              <a:spcBef>
                <a:spcPts val="0"/>
              </a:spcBef>
              <a:buSzPct val="100000"/>
            </a:pPr>
            <a:r>
              <a:rPr lang="pt-BR" sz="2400" dirty="0"/>
              <a:t>No terminal</a:t>
            </a:r>
            <a:endParaRPr lang="pt-BR" sz="24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685800" lvl="1" indent="-228600">
              <a:buSzPct val="100000"/>
            </a:pPr>
            <a:r>
              <a:rPr lang="pt-B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npx create-expo-app nomeApp –template</a:t>
            </a:r>
          </a:p>
          <a:p>
            <a:pPr marL="685800" lvl="1" indent="-228600">
              <a:buSzPct val="100000"/>
            </a:pPr>
            <a:endParaRPr lang="pt-BR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lvl="1" indent="0">
              <a:buSzPct val="100000"/>
              <a:buNone/>
            </a:pPr>
            <a:r>
              <a:rPr lang="pt-BR" sz="20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Vai perguntar se quer Typescript, selecione:</a:t>
            </a:r>
          </a:p>
          <a:p>
            <a:pPr marL="114300" indent="0">
              <a:buNone/>
            </a:pPr>
            <a:r>
              <a:rPr lang="pt-BR" sz="2000" b="1" dirty="0"/>
              <a:t>      Blank Typescript </a:t>
            </a:r>
            <a:r>
              <a:rPr lang="pt-BR" sz="2000" dirty="0"/>
              <a:t>e depois “enter”</a:t>
            </a:r>
            <a:endParaRPr lang="pt-BR" sz="2000" b="1" dirty="0"/>
          </a:p>
          <a:p>
            <a:pPr marL="457200" lvl="1" indent="0">
              <a:buSzPct val="100000"/>
              <a:buNone/>
            </a:pPr>
            <a:endParaRPr lang="pt-BR" sz="20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346722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>
            <a:spLocks noGrp="1"/>
          </p:cNvSpPr>
          <p:nvPr>
            <p:ph type="title"/>
          </p:nvPr>
        </p:nvSpPr>
        <p:spPr>
          <a:xfrm>
            <a:off x="3240819" y="1140529"/>
            <a:ext cx="5710361" cy="11355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Alguns Fundamentos</a:t>
            </a:r>
            <a:endParaRPr dirty="0"/>
          </a:p>
        </p:txBody>
      </p:sp>
      <p:sp>
        <p:nvSpPr>
          <p:cNvPr id="143" name="Google Shape;143;p7"/>
          <p:cNvSpPr txBox="1">
            <a:spLocks noGrp="1"/>
          </p:cNvSpPr>
          <p:nvPr>
            <p:ph type="body" idx="1"/>
          </p:nvPr>
        </p:nvSpPr>
        <p:spPr>
          <a:xfrm>
            <a:off x="3314254" y="2495043"/>
            <a:ext cx="6719977" cy="2813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Componentes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pt-BR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Propriedades (props)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pt-BR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Estados e imutabilidades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pt-BR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Ciclo de renderizações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endParaRPr lang="pt-BR" dirty="0"/>
          </a:p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dirty="0"/>
              <a:t>Typescript</a:t>
            </a:r>
          </a:p>
        </p:txBody>
      </p:sp>
      <p:pic>
        <p:nvPicPr>
          <p:cNvPr id="144" name="Google Shape;144;p7" descr="Logo serratec"/>
          <p:cNvPicPr preferRelativeResize="0"/>
          <p:nvPr/>
        </p:nvPicPr>
        <p:blipFill rotWithShape="1">
          <a:blip r:embed="rId3">
            <a:alphaModFix/>
          </a:blip>
          <a:srcRect l="5903" t="9853" r="73623" b="82599"/>
          <a:stretch/>
        </p:blipFill>
        <p:spPr>
          <a:xfrm>
            <a:off x="348466" y="1449326"/>
            <a:ext cx="2513301" cy="51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7" descr="Faixa azul em formato de onda preenchendo o fim do slide"/>
          <p:cNvPicPr preferRelativeResize="0"/>
          <p:nvPr/>
        </p:nvPicPr>
        <p:blipFill rotWithShape="1">
          <a:blip r:embed="rId3">
            <a:alphaModFix/>
          </a:blip>
          <a:srcRect l="-821" t="72746" b="-838"/>
          <a:stretch/>
        </p:blipFill>
        <p:spPr>
          <a:xfrm>
            <a:off x="-92163" y="5000211"/>
            <a:ext cx="12284163" cy="19277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>
            <a:spLocks noGrp="1"/>
          </p:cNvSpPr>
          <p:nvPr>
            <p:ph type="title"/>
          </p:nvPr>
        </p:nvSpPr>
        <p:spPr>
          <a:xfrm>
            <a:off x="207390" y="1384675"/>
            <a:ext cx="4949072" cy="306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000" dirty="0"/>
              <a:t>Principais Componentes/Tags do ReactNative</a:t>
            </a:r>
            <a:endParaRPr sz="4000" dirty="0"/>
          </a:p>
        </p:txBody>
      </p:sp>
      <p:sp>
        <p:nvSpPr>
          <p:cNvPr id="143" name="Google Shape;143;p7"/>
          <p:cNvSpPr txBox="1">
            <a:spLocks noGrp="1"/>
          </p:cNvSpPr>
          <p:nvPr>
            <p:ph type="body" idx="1"/>
          </p:nvPr>
        </p:nvSpPr>
        <p:spPr>
          <a:xfrm>
            <a:off x="5007634" y="833588"/>
            <a:ext cx="6719977" cy="4765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2400" dirty="0"/>
              <a:t>View: componente de envolver (parecido com div)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2400" dirty="0"/>
              <a:t>Text: componente de texto (h1,h2,span, etc)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2400" dirty="0"/>
              <a:t>Image: componente de colocar imagem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2400" dirty="0"/>
              <a:t>TouchableOpacity: componente de envolver que da uma resposta visual ao ser pressionado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2400" dirty="0"/>
              <a:t>TextInput: componente para abrir teclado e colocar texto</a:t>
            </a:r>
            <a:endParaRPr sz="2400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pt-BR" sz="2400" dirty="0"/>
              <a:t>FlatList: cria uma lista de componentes, baseado em um array</a:t>
            </a: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sz="2400" dirty="0"/>
          </a:p>
        </p:txBody>
      </p:sp>
      <p:pic>
        <p:nvPicPr>
          <p:cNvPr id="144" name="Google Shape;144;p7" descr="Logo serratec"/>
          <p:cNvPicPr preferRelativeResize="0"/>
          <p:nvPr/>
        </p:nvPicPr>
        <p:blipFill rotWithShape="1">
          <a:blip r:embed="rId3">
            <a:alphaModFix/>
          </a:blip>
          <a:srcRect l="5903" t="9853" r="73623" b="82599"/>
          <a:stretch/>
        </p:blipFill>
        <p:spPr>
          <a:xfrm>
            <a:off x="207390" y="833588"/>
            <a:ext cx="2513301" cy="51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7" descr="Faixa azul em formato de onda preenchendo o fim do slide"/>
          <p:cNvPicPr preferRelativeResize="0"/>
          <p:nvPr/>
        </p:nvPicPr>
        <p:blipFill rotWithShape="1">
          <a:blip r:embed="rId3">
            <a:alphaModFix/>
          </a:blip>
          <a:srcRect l="-821" t="72746" b="-838"/>
          <a:stretch/>
        </p:blipFill>
        <p:spPr>
          <a:xfrm>
            <a:off x="-86915" y="5000985"/>
            <a:ext cx="12278915" cy="192770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2564981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 txBox="1">
            <a:spLocks noGrp="1"/>
          </p:cNvSpPr>
          <p:nvPr>
            <p:ph type="title"/>
          </p:nvPr>
        </p:nvSpPr>
        <p:spPr>
          <a:xfrm>
            <a:off x="3086434" y="515515"/>
            <a:ext cx="7093788" cy="1339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React Native vs ReactJs</a:t>
            </a:r>
            <a:endParaRPr dirty="0"/>
          </a:p>
        </p:txBody>
      </p:sp>
      <p:sp>
        <p:nvSpPr>
          <p:cNvPr id="92" name="Google Shape;92;p2"/>
          <p:cNvSpPr txBox="1">
            <a:spLocks noGrp="1"/>
          </p:cNvSpPr>
          <p:nvPr>
            <p:ph type="body" idx="1"/>
          </p:nvPr>
        </p:nvSpPr>
        <p:spPr>
          <a:xfrm>
            <a:off x="3086434" y="2194004"/>
            <a:ext cx="7093788" cy="1882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&lt;Text&gt; 			&lt;p&gt;/&lt;h1&gt;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&lt;View&gt;			&lt;div&gt;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 dirty="0"/>
              <a:t>&lt;ToucheableOpacity&gt;	&lt;button&gt;</a:t>
            </a:r>
            <a:endParaRPr dirty="0"/>
          </a:p>
        </p:txBody>
      </p:sp>
      <p:sp>
        <p:nvSpPr>
          <p:cNvPr id="94" name="Google Shape;94;p2"/>
          <p:cNvSpPr txBox="1"/>
          <p:nvPr/>
        </p:nvSpPr>
        <p:spPr>
          <a:xfrm>
            <a:off x="3086434" y="4076313"/>
            <a:ext cx="6040899" cy="1512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00000"/>
              </a:lnSpc>
            </a:pPr>
            <a:r>
              <a:rPr lang="pt-BR" sz="2400" dirty="0"/>
              <a:t>Seu lema é "aprenda uma vez (React.js) e escreva em todo lugar (web, Android, iOS)"</a:t>
            </a:r>
            <a:endParaRPr lang="en-US" sz="2400" dirty="0"/>
          </a:p>
        </p:txBody>
      </p:sp>
      <p:pic>
        <p:nvPicPr>
          <p:cNvPr id="2" name="Google Shape;145;p7" descr="Faixa azul em formato de onda preenchendo o fim do slide">
            <a:extLst>
              <a:ext uri="{FF2B5EF4-FFF2-40B4-BE49-F238E27FC236}">
                <a16:creationId xmlns:a16="http://schemas.microsoft.com/office/drawing/2014/main" id="{D85DEEF8-4094-72AB-B8CD-1F734E58A1A2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-821" t="72746" b="-838"/>
          <a:stretch/>
        </p:blipFill>
        <p:spPr>
          <a:xfrm>
            <a:off x="-86915" y="5495827"/>
            <a:ext cx="12278915" cy="143286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Google Shape;144;p7" descr="Logo serratec">
            <a:extLst>
              <a:ext uri="{FF2B5EF4-FFF2-40B4-BE49-F238E27FC236}">
                <a16:creationId xmlns:a16="http://schemas.microsoft.com/office/drawing/2014/main" id="{95498F2B-6088-D608-0E1D-5DD532E1A366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l="5903" t="9853" r="73623" b="82599"/>
          <a:stretch/>
        </p:blipFill>
        <p:spPr>
          <a:xfrm>
            <a:off x="292231" y="926511"/>
            <a:ext cx="2513301" cy="5179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9438172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>
            <a:spLocks noGrp="1"/>
          </p:cNvSpPr>
          <p:nvPr>
            <p:ph type="title"/>
          </p:nvPr>
        </p:nvSpPr>
        <p:spPr>
          <a:xfrm>
            <a:off x="876368" y="1981693"/>
            <a:ext cx="525621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Usando o componente de estilo</a:t>
            </a:r>
            <a:endParaRPr dirty="0"/>
          </a:p>
        </p:txBody>
      </p:sp>
      <p:sp>
        <p:nvSpPr>
          <p:cNvPr id="153" name="Google Shape;153;p8"/>
          <p:cNvSpPr txBox="1">
            <a:spLocks noGrp="1"/>
          </p:cNvSpPr>
          <p:nvPr>
            <p:ph type="body" idx="3"/>
          </p:nvPr>
        </p:nvSpPr>
        <p:spPr>
          <a:xfrm>
            <a:off x="912812" y="3677744"/>
            <a:ext cx="5183188" cy="520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2500"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800" dirty="0"/>
              <a:t>No arquivo com a tag react native: </a:t>
            </a:r>
          </a:p>
        </p:txBody>
      </p:sp>
      <p:sp>
        <p:nvSpPr>
          <p:cNvPr id="154" name="Google Shape;154;p8"/>
          <p:cNvSpPr txBox="1">
            <a:spLocks noGrp="1"/>
          </p:cNvSpPr>
          <p:nvPr>
            <p:ph type="body" idx="4"/>
          </p:nvPr>
        </p:nvSpPr>
        <p:spPr>
          <a:xfrm>
            <a:off x="6527242" y="1539217"/>
            <a:ext cx="5183188" cy="4705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2400" dirty="0"/>
              <a:t>import React from ‘react’;</a:t>
            </a:r>
            <a:endParaRPr lang="pt-BR" sz="4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2400" dirty="0"/>
              <a:t>import { Text, View } from ‘react-native’;</a:t>
            </a:r>
            <a:endParaRPr lang="pt-BR" sz="4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2400" dirty="0"/>
              <a:t>import { styles } from './styles’;</a:t>
            </a:r>
            <a:endParaRPr lang="pt-BR" sz="4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endParaRPr lang="pt-BR" sz="2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2400" dirty="0"/>
              <a:t>export const Carrinho = ()=&gt;{</a:t>
            </a:r>
            <a:endParaRPr lang="pt-BR" sz="4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2400" dirty="0"/>
              <a:t>&lt;View style={styles.container}&gt;</a:t>
            </a:r>
            <a:endParaRPr lang="pt-BR" sz="4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2400" dirty="0"/>
              <a:t>     &lt;Text style={styles.title}&gt;Carrinho&lt;/Text&gt;</a:t>
            </a:r>
            <a:endParaRPr lang="pt-BR" sz="4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2400" dirty="0"/>
              <a:t>&lt;/View&gt;</a:t>
            </a:r>
            <a:endParaRPr lang="pt-BR" sz="44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2400" dirty="0"/>
              <a:t>};</a:t>
            </a:r>
            <a:endParaRPr sz="4400" dirty="0"/>
          </a:p>
        </p:txBody>
      </p:sp>
      <p:pic>
        <p:nvPicPr>
          <p:cNvPr id="155" name="Google Shape;155;p8" descr="Uma imagem contendo desenh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 t="-1051" r="82738" b="-13793"/>
          <a:stretch/>
        </p:blipFill>
        <p:spPr>
          <a:xfrm>
            <a:off x="11122325" y="5995838"/>
            <a:ext cx="488336" cy="570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8" descr="Logo simplificado do serratec"/>
          <p:cNvPicPr preferRelativeResize="0"/>
          <p:nvPr/>
        </p:nvPicPr>
        <p:blipFill rotWithShape="1">
          <a:blip r:embed="rId3">
            <a:alphaModFix/>
          </a:blip>
          <a:srcRect t="-1051" r="82738" b="-13793"/>
          <a:stretch/>
        </p:blipFill>
        <p:spPr>
          <a:xfrm>
            <a:off x="11133440" y="5995838"/>
            <a:ext cx="488336" cy="570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4;p9" descr="Faixa azul em formato de onda preenchendo o fim do slide">
            <a:extLst>
              <a:ext uri="{FF2B5EF4-FFF2-40B4-BE49-F238E27FC236}">
                <a16:creationId xmlns:a16="http://schemas.microsoft.com/office/drawing/2014/main" id="{6ECF8C12-BBC3-27B7-C897-058DFA8C7C0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-821" t="72746" b="-838"/>
          <a:stretch/>
        </p:blipFill>
        <p:spPr>
          <a:xfrm>
            <a:off x="-86915" y="5505254"/>
            <a:ext cx="12278915" cy="14234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44;p7" descr="Logo serratec">
            <a:extLst>
              <a:ext uri="{FF2B5EF4-FFF2-40B4-BE49-F238E27FC236}">
                <a16:creationId xmlns:a16="http://schemas.microsoft.com/office/drawing/2014/main" id="{C1BE78EC-EF8C-5F18-EA55-DCBD4C4D8E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5903" t="9853" r="73623" b="82599"/>
          <a:stretch/>
        </p:blipFill>
        <p:spPr>
          <a:xfrm>
            <a:off x="876368" y="572758"/>
            <a:ext cx="2513301" cy="5179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5439902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>
            <a:spLocks noGrp="1"/>
          </p:cNvSpPr>
          <p:nvPr>
            <p:ph type="title"/>
          </p:nvPr>
        </p:nvSpPr>
        <p:spPr>
          <a:xfrm>
            <a:off x="876368" y="1981693"/>
            <a:ext cx="5256212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Estilizando componentes</a:t>
            </a:r>
            <a:endParaRPr dirty="0"/>
          </a:p>
        </p:txBody>
      </p:sp>
      <p:sp>
        <p:nvSpPr>
          <p:cNvPr id="153" name="Google Shape;153;p8"/>
          <p:cNvSpPr txBox="1">
            <a:spLocks noGrp="1"/>
          </p:cNvSpPr>
          <p:nvPr>
            <p:ph type="body" idx="3"/>
          </p:nvPr>
        </p:nvSpPr>
        <p:spPr>
          <a:xfrm>
            <a:off x="912812" y="3677744"/>
            <a:ext cx="5183188" cy="520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pt-BR" sz="2800" dirty="0"/>
              <a:t>No arquivo com estilo: </a:t>
            </a:r>
            <a:endParaRPr sz="2800" dirty="0"/>
          </a:p>
        </p:txBody>
      </p:sp>
      <p:sp>
        <p:nvSpPr>
          <p:cNvPr id="154" name="Google Shape;154;p8"/>
          <p:cNvSpPr txBox="1">
            <a:spLocks noGrp="1"/>
          </p:cNvSpPr>
          <p:nvPr>
            <p:ph type="body" idx="4"/>
          </p:nvPr>
        </p:nvSpPr>
        <p:spPr>
          <a:xfrm>
            <a:off x="6649790" y="572758"/>
            <a:ext cx="5183188" cy="4705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1600" dirty="0"/>
              <a:t>import { StyleSheet } from 'react-native';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1600" dirty="0"/>
              <a:t>export const styles = StyleSheet.create({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1600" dirty="0"/>
              <a:t>    container: {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1600" dirty="0"/>
              <a:t>        flex: 1,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1600" dirty="0"/>
              <a:t>        backgroundColor: '#121015',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1600" dirty="0"/>
              <a:t>        paddingHorizontal: 30,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1600" dirty="0"/>
              <a:t>        paddingTop: 60,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1600" dirty="0"/>
              <a:t>        alignContent: ‘space-between’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1600" dirty="0"/>
              <a:t>    },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1600" dirty="0"/>
              <a:t>    title: {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1600" dirty="0"/>
              <a:t>        color: #fff’,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1600" dirty="0"/>
              <a:t>        fontSize: 24,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1600" dirty="0"/>
              <a:t>        fontWeight: ‘bold’,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1600" dirty="0"/>
              <a:t>    }</a:t>
            </a:r>
            <a:endParaRPr sz="3200" dirty="0"/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pt-BR" sz="1600" dirty="0"/>
              <a:t>})</a:t>
            </a:r>
            <a:endParaRPr sz="3200" dirty="0"/>
          </a:p>
        </p:txBody>
      </p:sp>
      <p:pic>
        <p:nvPicPr>
          <p:cNvPr id="155" name="Google Shape;155;p8" descr="Uma imagem contendo desenho&#10;&#10;Descrição gerada automaticamente"/>
          <p:cNvPicPr preferRelativeResize="0"/>
          <p:nvPr/>
        </p:nvPicPr>
        <p:blipFill rotWithShape="1">
          <a:blip r:embed="rId3">
            <a:alphaModFix/>
          </a:blip>
          <a:srcRect t="-1051" r="82738" b="-13793"/>
          <a:stretch/>
        </p:blipFill>
        <p:spPr>
          <a:xfrm>
            <a:off x="11122325" y="5995838"/>
            <a:ext cx="488336" cy="570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8" descr="Logo simplificado do serratec"/>
          <p:cNvPicPr preferRelativeResize="0"/>
          <p:nvPr/>
        </p:nvPicPr>
        <p:blipFill rotWithShape="1">
          <a:blip r:embed="rId3">
            <a:alphaModFix/>
          </a:blip>
          <a:srcRect t="-1051" r="82738" b="-13793"/>
          <a:stretch/>
        </p:blipFill>
        <p:spPr>
          <a:xfrm>
            <a:off x="11133440" y="5995838"/>
            <a:ext cx="488336" cy="570447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Google Shape;164;p9" descr="Faixa azul em formato de onda preenchendo o fim do slide">
            <a:extLst>
              <a:ext uri="{FF2B5EF4-FFF2-40B4-BE49-F238E27FC236}">
                <a16:creationId xmlns:a16="http://schemas.microsoft.com/office/drawing/2014/main" id="{6ECF8C12-BBC3-27B7-C897-058DFA8C7C07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-821" t="72746" b="-838"/>
          <a:stretch/>
        </p:blipFill>
        <p:spPr>
          <a:xfrm>
            <a:off x="-86915" y="5825765"/>
            <a:ext cx="12278915" cy="1060906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Google Shape;144;p7" descr="Logo serratec">
            <a:extLst>
              <a:ext uri="{FF2B5EF4-FFF2-40B4-BE49-F238E27FC236}">
                <a16:creationId xmlns:a16="http://schemas.microsoft.com/office/drawing/2014/main" id="{C1BE78EC-EF8C-5F18-EA55-DCBD4C4D8E23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5903" t="9853" r="73623" b="82599"/>
          <a:stretch/>
        </p:blipFill>
        <p:spPr>
          <a:xfrm>
            <a:off x="876368" y="572758"/>
            <a:ext cx="2513301" cy="51794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75145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0"/>
          <p:cNvSpPr txBox="1">
            <a:spLocks noGrp="1"/>
          </p:cNvSpPr>
          <p:nvPr>
            <p:ph type="title"/>
          </p:nvPr>
        </p:nvSpPr>
        <p:spPr>
          <a:xfrm>
            <a:off x="2944630" y="395334"/>
            <a:ext cx="8946037" cy="8727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Tipagem de componentes (Typescript)</a:t>
            </a:r>
            <a:endParaRPr dirty="0"/>
          </a:p>
        </p:txBody>
      </p:sp>
      <p:sp>
        <p:nvSpPr>
          <p:cNvPr id="171" name="Google Shape;171;p10"/>
          <p:cNvSpPr txBox="1">
            <a:spLocks noGrp="1"/>
          </p:cNvSpPr>
          <p:nvPr>
            <p:ph type="body" idx="1"/>
          </p:nvPr>
        </p:nvSpPr>
        <p:spPr>
          <a:xfrm>
            <a:off x="301333" y="1668936"/>
            <a:ext cx="6193735" cy="24061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3690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2400" b="1" dirty="0"/>
              <a:t>Utilizando tipos do React Native:</a:t>
            </a:r>
            <a:endParaRPr sz="2400" b="1" dirty="0"/>
          </a:p>
          <a:p>
            <a:pPr marL="36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endParaRPr sz="2000" dirty="0"/>
          </a:p>
          <a:p>
            <a:pPr marL="36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2000" dirty="0"/>
              <a:t>Import {TouchableOpacityProps} from ‘react-native’;</a:t>
            </a:r>
            <a:endParaRPr sz="2000" dirty="0"/>
          </a:p>
          <a:p>
            <a:pPr marL="36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2000" dirty="0"/>
              <a:t>interface ButtonProps extends TouchableOpacityProps {</a:t>
            </a:r>
            <a:endParaRPr sz="3600" dirty="0"/>
          </a:p>
          <a:p>
            <a:pPr marL="36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2000" dirty="0"/>
              <a:t>    title : string,  </a:t>
            </a:r>
            <a:endParaRPr sz="3600" dirty="0"/>
          </a:p>
          <a:p>
            <a:pPr marL="3690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pt-BR" sz="2000" dirty="0"/>
              <a:t>};</a:t>
            </a:r>
            <a:endParaRPr sz="3600" dirty="0"/>
          </a:p>
          <a:p>
            <a:pPr marL="22860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endParaRPr sz="3600" dirty="0"/>
          </a:p>
        </p:txBody>
      </p:sp>
      <p:pic>
        <p:nvPicPr>
          <p:cNvPr id="172" name="Google Shape;172;p10" descr="Logo serratec"/>
          <p:cNvPicPr preferRelativeResize="0"/>
          <p:nvPr/>
        </p:nvPicPr>
        <p:blipFill rotWithShape="1">
          <a:blip r:embed="rId3">
            <a:alphaModFix/>
          </a:blip>
          <a:srcRect l="5903" t="9853" r="73623" b="82599"/>
          <a:stretch/>
        </p:blipFill>
        <p:spPr>
          <a:xfrm>
            <a:off x="301333" y="572758"/>
            <a:ext cx="2513301" cy="51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0" descr="Faixa azul em formato de onda preenchendo o fim do slide"/>
          <p:cNvPicPr preferRelativeResize="0"/>
          <p:nvPr/>
        </p:nvPicPr>
        <p:blipFill rotWithShape="1">
          <a:blip r:embed="rId3">
            <a:alphaModFix/>
          </a:blip>
          <a:srcRect l="-821" t="72746" b="-838"/>
          <a:stretch/>
        </p:blipFill>
        <p:spPr>
          <a:xfrm>
            <a:off x="-86915" y="5825764"/>
            <a:ext cx="12278915" cy="1102929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10"/>
          <p:cNvSpPr txBox="1"/>
          <p:nvPr/>
        </p:nvSpPr>
        <p:spPr>
          <a:xfrm>
            <a:off x="6604920" y="1268130"/>
            <a:ext cx="5587080" cy="5187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9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Criando próprio tipo:</a:t>
            </a:r>
            <a:endParaRPr lang="pt-BR" sz="2000" b="1" dirty="0">
              <a:ea typeface="Calibri"/>
            </a:endParaRPr>
          </a:p>
          <a:p>
            <a:pPr marL="369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interface ativoFinanceiro {</a:t>
            </a:r>
            <a:endParaRPr sz="1800" dirty="0"/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nome: string,</a:t>
            </a:r>
            <a:endParaRPr sz="1800" dirty="0"/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sigla: string,</a:t>
            </a:r>
            <a:endParaRPr sz="1800" dirty="0"/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 origem: string,</a:t>
            </a:r>
            <a:endParaRPr sz="1800" dirty="0"/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  }</a:t>
            </a:r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type AtivoFinanceiro = {</a:t>
            </a:r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nome: string,</a:t>
            </a:r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sigla: string,</a:t>
            </a:r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origem: string,</a:t>
            </a:r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};</a:t>
            </a:r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endParaRPr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"/>
          <p:cNvSpPr txBox="1">
            <a:spLocks noGrp="1"/>
          </p:cNvSpPr>
          <p:nvPr>
            <p:ph type="title"/>
          </p:nvPr>
        </p:nvSpPr>
        <p:spPr>
          <a:xfrm>
            <a:off x="23429" y="715903"/>
            <a:ext cx="12191999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Navegação em 3 formas</a:t>
            </a:r>
            <a:endParaRPr dirty="0"/>
          </a:p>
        </p:txBody>
      </p:sp>
      <p:pic>
        <p:nvPicPr>
          <p:cNvPr id="180" name="Google Shape;180;p11" descr="Logo serratec"/>
          <p:cNvPicPr preferRelativeResize="0"/>
          <p:nvPr/>
        </p:nvPicPr>
        <p:blipFill rotWithShape="1">
          <a:blip r:embed="rId3">
            <a:alphaModFix/>
          </a:blip>
          <a:srcRect l="5903" t="9853" r="73623" b="82599"/>
          <a:stretch/>
        </p:blipFill>
        <p:spPr>
          <a:xfrm>
            <a:off x="659706" y="775048"/>
            <a:ext cx="2513301" cy="51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1" descr="Faixa azul em formato de onda preenchendo o fim do slide"/>
          <p:cNvPicPr preferRelativeResize="0"/>
          <p:nvPr/>
        </p:nvPicPr>
        <p:blipFill rotWithShape="1">
          <a:blip r:embed="rId3">
            <a:alphaModFix/>
          </a:blip>
          <a:srcRect l="-821" t="72746" b="-838"/>
          <a:stretch/>
        </p:blipFill>
        <p:spPr>
          <a:xfrm>
            <a:off x="-86915" y="5559371"/>
            <a:ext cx="12278915" cy="1369323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1"/>
          <p:cNvSpPr txBox="1"/>
          <p:nvPr/>
        </p:nvSpPr>
        <p:spPr>
          <a:xfrm>
            <a:off x="659706" y="5429348"/>
            <a:ext cx="8120624" cy="3138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9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b="1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https://reactnavigation.org/</a:t>
            </a:r>
            <a:endParaRPr sz="1600" b="1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1"/>
          <p:cNvSpPr txBox="1"/>
          <p:nvPr/>
        </p:nvSpPr>
        <p:spPr>
          <a:xfrm>
            <a:off x="789587" y="1968086"/>
            <a:ext cx="2815184" cy="233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Tab Navigation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navegação que cria botões na parte de baixo da tela para todas as telas dentro dessa navegação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https://reactnavigation.org/docs/tab-based-navigation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 txBox="1"/>
          <p:nvPr/>
        </p:nvSpPr>
        <p:spPr>
          <a:xfrm>
            <a:off x="4580329" y="1968086"/>
            <a:ext cx="2815184" cy="233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i="0" dirty="0">
                <a:solidFill>
                  <a:srgbClr val="1C1E21"/>
                </a:solidFill>
                <a:latin typeface="Arial"/>
                <a:ea typeface="Arial"/>
                <a:cs typeface="Arial"/>
                <a:sym typeface="Arial"/>
              </a:rPr>
              <a:t>Drawer </a:t>
            </a:r>
            <a:r>
              <a:rPr lang="pt-BR" sz="2000" b="1" dirty="0">
                <a:solidFill>
                  <a:srgbClr val="1C1E21"/>
                </a:solidFill>
                <a:latin typeface="Arial"/>
                <a:ea typeface="Arial"/>
                <a:cs typeface="Arial"/>
                <a:sym typeface="Arial"/>
              </a:rPr>
              <a:t>N</a:t>
            </a:r>
            <a:r>
              <a:rPr lang="pt-BR" sz="2000" b="1" i="0" dirty="0">
                <a:solidFill>
                  <a:srgbClr val="1C1E21"/>
                </a:solidFill>
                <a:latin typeface="Arial"/>
                <a:ea typeface="Arial"/>
                <a:cs typeface="Arial"/>
                <a:sym typeface="Arial"/>
              </a:rPr>
              <a:t>avigation</a:t>
            </a:r>
            <a:endParaRPr sz="2000" b="1" i="0" dirty="0">
              <a:solidFill>
                <a:srgbClr val="1C1E2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navegação que cria uma lista de páginas dentro de um Drawer.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https://reactnavigation.org/docs/drawer-based-navigation/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8371071" y="1968086"/>
            <a:ext cx="2815185" cy="23391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b="1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Stack Navigation</a:t>
            </a:r>
            <a:endParaRPr sz="20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Uma navegação que cria uma pilha de telas, da mesma forma que funciona o React.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https://reactnavigation.org/docs/native-stack-navigator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789587" y="4468992"/>
            <a:ext cx="598343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*Ficar atento com as instalações de dependências necessárias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**É possível, e comum, usar mais de um tipo de navegação.</a:t>
            </a:r>
            <a:endParaRPr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>
            <a:spLocks noGrp="1"/>
          </p:cNvSpPr>
          <p:nvPr>
            <p:ph type="title"/>
          </p:nvPr>
        </p:nvSpPr>
        <p:spPr>
          <a:xfrm>
            <a:off x="535731" y="1857015"/>
            <a:ext cx="2853937" cy="306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dirty="0"/>
              <a:t>Banco de dados embarcado</a:t>
            </a:r>
            <a:endParaRPr dirty="0"/>
          </a:p>
        </p:txBody>
      </p:sp>
      <p:pic>
        <p:nvPicPr>
          <p:cNvPr id="232" name="Google Shape;232;p16" descr="Logo serratec"/>
          <p:cNvPicPr preferRelativeResize="0"/>
          <p:nvPr/>
        </p:nvPicPr>
        <p:blipFill rotWithShape="1">
          <a:blip r:embed="rId3">
            <a:alphaModFix/>
          </a:blip>
          <a:srcRect l="5903" t="9853" r="73623" b="82599"/>
          <a:stretch/>
        </p:blipFill>
        <p:spPr>
          <a:xfrm>
            <a:off x="535731" y="553904"/>
            <a:ext cx="2513301" cy="51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6" descr="Faixa azul em formato de onda preenchendo o fim do slide"/>
          <p:cNvPicPr preferRelativeResize="0"/>
          <p:nvPr/>
        </p:nvPicPr>
        <p:blipFill rotWithShape="1">
          <a:blip r:embed="rId3">
            <a:alphaModFix/>
          </a:blip>
          <a:srcRect l="-821" t="72746" b="-838"/>
          <a:stretch/>
        </p:blipFill>
        <p:spPr>
          <a:xfrm>
            <a:off x="-86915" y="5000985"/>
            <a:ext cx="12278915" cy="1927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6"/>
          <p:cNvSpPr txBox="1"/>
          <p:nvPr/>
        </p:nvSpPr>
        <p:spPr>
          <a:xfrm>
            <a:off x="3713342" y="1455347"/>
            <a:ext cx="8120624" cy="35240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9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banco de dados embarcado serve para informações serem guardadas mesmo quando o aplicativo foi finalizado. Por exemplo, a opção de manter o usuário logado ou o tema do aplicativo, mesmo que ele feche o aplicativo é necessário que essas informações não se percam. E essas informações não precisam ser armazenadas em um banco de dados fora do aparelho utilizado, essas são informações que só são de preferencia do usuário e podem ser armazenadas no próprio aparelho em questão.</a:t>
            </a:r>
            <a:endParaRPr sz="1800" dirty="0"/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Para utilizar o banco de dados embarcado usaremos uma biblioteca externa.</a:t>
            </a:r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para documentação da biblioteca externa:</a:t>
            </a:r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0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https://react-native-async-storage.github.io/async-storage/docs/usage</a:t>
            </a:r>
            <a:r>
              <a:rPr lang="pt-BR" sz="2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endParaRPr sz="1800" dirty="0"/>
          </a:p>
        </p:txBody>
      </p:sp>
      <p:sp>
        <p:nvSpPr>
          <p:cNvPr id="235" name="Google Shape;235;p16"/>
          <p:cNvSpPr txBox="1"/>
          <p:nvPr/>
        </p:nvSpPr>
        <p:spPr>
          <a:xfrm>
            <a:off x="4048217" y="37108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6"/>
          <p:cNvSpPr txBox="1">
            <a:spLocks noGrp="1"/>
          </p:cNvSpPr>
          <p:nvPr>
            <p:ph type="title"/>
          </p:nvPr>
        </p:nvSpPr>
        <p:spPr>
          <a:xfrm>
            <a:off x="2196444" y="869640"/>
            <a:ext cx="9995555" cy="8543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pt-BR" sz="4000" dirty="0"/>
              <a:t>Uso do Banco de dados embarcado</a:t>
            </a:r>
            <a:endParaRPr sz="4000" dirty="0"/>
          </a:p>
        </p:txBody>
      </p:sp>
      <p:pic>
        <p:nvPicPr>
          <p:cNvPr id="232" name="Google Shape;232;p16" descr="Logo serratec"/>
          <p:cNvPicPr preferRelativeResize="0"/>
          <p:nvPr/>
        </p:nvPicPr>
        <p:blipFill rotWithShape="1">
          <a:blip r:embed="rId3">
            <a:alphaModFix/>
          </a:blip>
          <a:srcRect l="5903" t="9853" r="73623" b="82599"/>
          <a:stretch/>
        </p:blipFill>
        <p:spPr>
          <a:xfrm>
            <a:off x="238394" y="1037824"/>
            <a:ext cx="2513301" cy="51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16" descr="Faixa azul em formato de onda preenchendo o fim do slide"/>
          <p:cNvPicPr preferRelativeResize="0"/>
          <p:nvPr/>
        </p:nvPicPr>
        <p:blipFill rotWithShape="1">
          <a:blip r:embed="rId3">
            <a:alphaModFix/>
          </a:blip>
          <a:srcRect l="-821" t="72746" b="-838"/>
          <a:stretch/>
        </p:blipFill>
        <p:spPr>
          <a:xfrm>
            <a:off x="-92160" y="5552388"/>
            <a:ext cx="12284159" cy="1358387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16"/>
          <p:cNvSpPr txBox="1"/>
          <p:nvPr/>
        </p:nvSpPr>
        <p:spPr>
          <a:xfrm>
            <a:off x="238394" y="2311573"/>
            <a:ext cx="8359018" cy="44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Após a instalação, poderá ser feito os seguintes métodos:</a:t>
            </a:r>
            <a:endParaRPr dirty="0"/>
          </a:p>
        </p:txBody>
      </p:sp>
      <p:sp>
        <p:nvSpPr>
          <p:cNvPr id="235" name="Google Shape;235;p16"/>
          <p:cNvSpPr txBox="1"/>
          <p:nvPr/>
        </p:nvSpPr>
        <p:spPr>
          <a:xfrm>
            <a:off x="4048217" y="37108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6"/>
          <p:cNvSpPr txBox="1"/>
          <p:nvPr/>
        </p:nvSpPr>
        <p:spPr>
          <a:xfrm>
            <a:off x="238394" y="3192258"/>
            <a:ext cx="5986345" cy="252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//Método para guardar informação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 storeData = async (value) =&gt;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try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const jsonValue = JSON.stringify(value)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await AsyncStorage.setItem('@storage_Key', jsonValue)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 catch (e)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// saving error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 </a:t>
            </a:r>
            <a:endParaRPr dirty="0"/>
          </a:p>
        </p:txBody>
      </p:sp>
      <p:sp>
        <p:nvSpPr>
          <p:cNvPr id="237" name="Google Shape;237;p16"/>
          <p:cNvSpPr txBox="1"/>
          <p:nvPr/>
        </p:nvSpPr>
        <p:spPr>
          <a:xfrm>
            <a:off x="5891753" y="3192258"/>
            <a:ext cx="6385088" cy="25237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//Método para pegar informação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const getData = async () =&gt;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try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const jsonValue = await AsyncStorage.getItem('@storage_Key')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return jsonValue != null ? JSON.parse(jsonValue) : null;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 catch(e) {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// error reading value</a:t>
            </a:r>
            <a:endParaRPr sz="16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}</a:t>
            </a:r>
            <a:endParaRPr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}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2366804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 txBox="1">
            <a:spLocks noGrp="1"/>
          </p:cNvSpPr>
          <p:nvPr>
            <p:ph type="title"/>
          </p:nvPr>
        </p:nvSpPr>
        <p:spPr>
          <a:xfrm>
            <a:off x="535731" y="1857015"/>
            <a:ext cx="3146194" cy="306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dirty="0"/>
              <a:t>Diferentes sistemas operacionais</a:t>
            </a:r>
            <a:endParaRPr dirty="0"/>
          </a:p>
        </p:txBody>
      </p:sp>
      <p:pic>
        <p:nvPicPr>
          <p:cNvPr id="243" name="Google Shape;243;p17" descr="Logo serratec"/>
          <p:cNvPicPr preferRelativeResize="0"/>
          <p:nvPr/>
        </p:nvPicPr>
        <p:blipFill rotWithShape="1">
          <a:blip r:embed="rId3">
            <a:alphaModFix/>
          </a:blip>
          <a:srcRect l="5903" t="9853" r="73623" b="82599"/>
          <a:stretch/>
        </p:blipFill>
        <p:spPr>
          <a:xfrm>
            <a:off x="535731" y="516198"/>
            <a:ext cx="2513301" cy="51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7" descr="Faixa azul em formato de onda preenchendo o fim do slide"/>
          <p:cNvPicPr preferRelativeResize="0"/>
          <p:nvPr/>
        </p:nvPicPr>
        <p:blipFill rotWithShape="1">
          <a:blip r:embed="rId3">
            <a:alphaModFix/>
          </a:blip>
          <a:srcRect l="-821" t="72746" b="-838"/>
          <a:stretch/>
        </p:blipFill>
        <p:spPr>
          <a:xfrm>
            <a:off x="-86915" y="5000985"/>
            <a:ext cx="12278915" cy="192770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7"/>
          <p:cNvSpPr txBox="1"/>
          <p:nvPr/>
        </p:nvSpPr>
        <p:spPr>
          <a:xfrm>
            <a:off x="3681925" y="1581877"/>
            <a:ext cx="8120624" cy="3007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9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 react native é um framework que tem a intenção de ter somente 1 código para todos os sistemas operacionais, porém alguns ajustes precisam ser feitos de acordo com a plataforma que está sendo utilizado. Esses ajustes foram previstos e podem ser feitos utilizando uma propriedade do react native chamada Platform.</a:t>
            </a:r>
            <a:endParaRPr sz="2000" dirty="0"/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Link da documentação: </a:t>
            </a:r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2400" u="sng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https://reactnative.dev/docs/platform</a:t>
            </a:r>
            <a:endParaRPr sz="24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7"/>
          <p:cNvSpPr txBox="1"/>
          <p:nvPr/>
        </p:nvSpPr>
        <p:spPr>
          <a:xfrm>
            <a:off x="4048217" y="37108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8065151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7"/>
          <p:cNvSpPr txBox="1">
            <a:spLocks noGrp="1"/>
          </p:cNvSpPr>
          <p:nvPr>
            <p:ph type="title"/>
          </p:nvPr>
        </p:nvSpPr>
        <p:spPr>
          <a:xfrm>
            <a:off x="535731" y="1857015"/>
            <a:ext cx="3697217" cy="3065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pt-BR" dirty="0"/>
              <a:t>Uso da funcionalidade</a:t>
            </a:r>
            <a:endParaRPr dirty="0"/>
          </a:p>
        </p:txBody>
      </p:sp>
      <p:pic>
        <p:nvPicPr>
          <p:cNvPr id="243" name="Google Shape;243;p17" descr="Logo serratec"/>
          <p:cNvPicPr preferRelativeResize="0"/>
          <p:nvPr/>
        </p:nvPicPr>
        <p:blipFill rotWithShape="1">
          <a:blip r:embed="rId3">
            <a:alphaModFix/>
          </a:blip>
          <a:srcRect l="5903" t="9853" r="73623" b="82599"/>
          <a:stretch/>
        </p:blipFill>
        <p:spPr>
          <a:xfrm>
            <a:off x="535731" y="1000709"/>
            <a:ext cx="2513301" cy="51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4" name="Google Shape;244;p17" descr="Faixa azul em formato de onda preenchendo o fim do slide"/>
          <p:cNvPicPr preferRelativeResize="0"/>
          <p:nvPr/>
        </p:nvPicPr>
        <p:blipFill rotWithShape="1">
          <a:blip r:embed="rId3">
            <a:alphaModFix/>
          </a:blip>
          <a:srcRect l="-821" t="72746" b="-838"/>
          <a:stretch/>
        </p:blipFill>
        <p:spPr>
          <a:xfrm>
            <a:off x="-86915" y="5409126"/>
            <a:ext cx="12278915" cy="1519568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17"/>
          <p:cNvSpPr txBox="1"/>
          <p:nvPr/>
        </p:nvSpPr>
        <p:spPr>
          <a:xfrm>
            <a:off x="3883024" y="1000709"/>
            <a:ext cx="8120624" cy="442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Segue como usar a funcionalidade para mudar uma propriedade de estilo:</a:t>
            </a:r>
            <a:endParaRPr dirty="0"/>
          </a:p>
        </p:txBody>
      </p:sp>
      <p:sp>
        <p:nvSpPr>
          <p:cNvPr id="246" name="Google Shape;246;p17"/>
          <p:cNvSpPr txBox="1"/>
          <p:nvPr/>
        </p:nvSpPr>
        <p:spPr>
          <a:xfrm>
            <a:off x="4048217" y="3710866"/>
            <a:ext cx="18473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7"/>
          <p:cNvSpPr txBox="1"/>
          <p:nvPr/>
        </p:nvSpPr>
        <p:spPr>
          <a:xfrm>
            <a:off x="4168780" y="1725531"/>
            <a:ext cx="8120624" cy="27628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690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import { StyleSheet, Platform } from 'react-native';</a:t>
            </a:r>
            <a:endParaRPr dirty="0"/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export const styles = StyleSheet.create({</a:t>
            </a:r>
            <a:endParaRPr dirty="0"/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container: {</a:t>
            </a:r>
            <a:endParaRPr dirty="0"/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flex:1,</a:t>
            </a:r>
            <a:endParaRPr dirty="0"/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backgroundColor: '#121015',</a:t>
            </a:r>
            <a:endParaRPr dirty="0"/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paddingTop: Platform.OS === ‘ios’ ? 50 : 60,</a:t>
            </a:r>
            <a:endParaRPr dirty="0"/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paddingHorizontal: 30</a:t>
            </a:r>
            <a:endParaRPr dirty="0"/>
          </a:p>
          <a:p>
            <a:pPr marL="3690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pt-BR" sz="16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},</a:t>
            </a:r>
            <a:endParaRPr dirty="0"/>
          </a:p>
        </p:txBody>
      </p:sp>
      <p:sp>
        <p:nvSpPr>
          <p:cNvPr id="248" name="Google Shape;248;p17"/>
          <p:cNvSpPr txBox="1"/>
          <p:nvPr/>
        </p:nvSpPr>
        <p:spPr>
          <a:xfrm>
            <a:off x="3883024" y="4567086"/>
            <a:ext cx="7608053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*Dessa forma, caso o usuário esteja usando o sistema operacional (OS) ios, o paddingTop será 50, se estiver usando outro OS será 60</a:t>
            </a:r>
            <a:endParaRPr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Imagem para fundo de slide, faixa azul preenchendo a parte de baixo do slide, formato de onda com logo do Serratec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-4671"/>
            <a:ext cx="12275387" cy="6862671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>
            <a:spLocks noGrp="1"/>
          </p:cNvSpPr>
          <p:nvPr>
            <p:ph type="ctrTitle"/>
          </p:nvPr>
        </p:nvSpPr>
        <p:spPr>
          <a:xfrm>
            <a:off x="0" y="475381"/>
            <a:ext cx="12275387" cy="23444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pt-BR" sz="16600" dirty="0"/>
              <a:t>Boa Sorte! </a:t>
            </a:r>
            <a:endParaRPr sz="16600" dirty="0"/>
          </a:p>
        </p:txBody>
      </p:sp>
    </p:spTree>
    <p:extLst>
      <p:ext uri="{BB962C8B-B14F-4D97-AF65-F5344CB8AC3E}">
        <p14:creationId xmlns:p14="http://schemas.microsoft.com/office/powerpoint/2010/main" val="277883457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216</TotalTime>
  <Words>1710</Words>
  <Application>Microsoft Office PowerPoint</Application>
  <PresentationFormat>Widescreen</PresentationFormat>
  <Paragraphs>248</Paragraphs>
  <Slides>24</Slides>
  <Notes>24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24</vt:i4>
      </vt:variant>
    </vt:vector>
  </HeadingPairs>
  <TitlesOfParts>
    <vt:vector size="27" baseType="lpstr">
      <vt:lpstr>Arial</vt:lpstr>
      <vt:lpstr>Calibri</vt:lpstr>
      <vt:lpstr>Tema do Office</vt:lpstr>
      <vt:lpstr>React Native</vt:lpstr>
      <vt:lpstr>O que é React Native?</vt:lpstr>
      <vt:lpstr>Vantagens React Native</vt:lpstr>
      <vt:lpstr>Vantagens React Native</vt:lpstr>
      <vt:lpstr>Vantagens React Native</vt:lpstr>
      <vt:lpstr>O que é necessário</vt:lpstr>
      <vt:lpstr>O que é necessário saber</vt:lpstr>
      <vt:lpstr>Fluxos de trabalho</vt:lpstr>
      <vt:lpstr>Fluxos de trabalho</vt:lpstr>
      <vt:lpstr>Comparando versões</vt:lpstr>
      <vt:lpstr>Iniciando projeto Cli</vt:lpstr>
      <vt:lpstr>Iniciando projeto Expo</vt:lpstr>
      <vt:lpstr>Alguns Fundamentos</vt:lpstr>
      <vt:lpstr>Principais Componentes/Tags do ReactNative</vt:lpstr>
      <vt:lpstr>React Native vs ReactJs</vt:lpstr>
      <vt:lpstr>Usando o componente de estilo</vt:lpstr>
      <vt:lpstr>Estilizando componentes</vt:lpstr>
      <vt:lpstr>Tipagem de componentes (Typescript)</vt:lpstr>
      <vt:lpstr>Navegação em 3 formas</vt:lpstr>
      <vt:lpstr>Banco de dados embarcado</vt:lpstr>
      <vt:lpstr>Uso do Banco de dados embarcado</vt:lpstr>
      <vt:lpstr>Diferentes sistemas operacionais</vt:lpstr>
      <vt:lpstr>Uso da funcionalidade</vt:lpstr>
      <vt:lpstr>Boa Sorte!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React Native</dc:title>
  <dc:creator>frederico.shere@gmail.com</dc:creator>
  <cp:lastModifiedBy>Fred Shere</cp:lastModifiedBy>
  <cp:revision>8</cp:revision>
  <dcterms:created xsi:type="dcterms:W3CDTF">2022-06-14T19:14:16Z</dcterms:created>
  <dcterms:modified xsi:type="dcterms:W3CDTF">2026-02-24T21:27:05Z</dcterms:modified>
</cp:coreProperties>
</file>